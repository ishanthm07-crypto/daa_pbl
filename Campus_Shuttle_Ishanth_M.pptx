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f4814e-4bd5-1fb7-a8f5-e829e3ed2ca7}">
          <p14:sldIdLst>
            <p14:sldId id="256"/>
          </p14:sldIdLst>
        </p14:section>
        <p14:section name="Problem and model" id="{47de1807-1f82-acef-2682-448e3d7478d5}">
          <p14:sldIdLst>
            <p14:sldId id="257"/>
            <p14:sldId id="258"/>
          </p14:sldIdLst>
        </p14:section>
        <p14:section name="Algorithms and system" id="{8394a426-a093-f924-de44-c5a48caa1817}">
          <p14:sldIdLst>
            <p14:sldId id="259"/>
            <p14:sldId id="260"/>
          </p14:sldIdLst>
        </p14:section>
        <p14:section name="Demonstration" id="{665defc8-d4b2-0d9a-7870-a8494a0ec8c5}">
          <p14:sldIdLst>
            <p14:sldId id="261"/>
            <p14:sldId id="262"/>
          </p14:sldIdLst>
        </p14:section>
        <p14:section name="Results" id="{3ecf4392-9b6d-191e-48e5-f1ed15b7acce}">
          <p14:sldIdLst>
            <p14:sldId id="263"/>
            <p14:sldId id="264"/>
            <p14:sldId id="265"/>
          </p14:sldIdLst>
        </p14:section>
        <p14:section name="Conclusion" id="{7a87ce4e-9f3e-3a61-176b-98c926f0dcb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1929"/>
                </a:solidFill>
                <a:latin typeface="+mn-lt"/>
              </a:defRPr>
            </a:pPr>
            <a:r>
              <a:rPr sz="1200" b="0" i="0" u="none" strike="noStrike">
                <a:solidFill>
                  <a:srgbClr val="151929"/>
                </a:solidFill>
                <a:latin typeface="+mn-lt"/>
              </a:rPr>
              <a:t>Waiting passengers by stop</a:t>
            </a:r>
          </a:p>
        </c:rich>
      </c:tx>
      <c:layout/>
      <c:overlay val="0"/>
    </c:title>
    <c:autoTitleDeleted val="0"/>
    <c:plotArea>
      <c:layout/>
      <c:barChart>
        <c:barDir val="bar"/>
        <c:grouping val="clustered"/>
        <c:varyColors val="0"/>
        <c:ser>
          <c:idx val="0"/>
          <c:order val="0"/>
          <c:tx>
            <c:strRef>
              <c:f>Sheet1!$B$1</c:f>
              <c:strCache>
                <c:ptCount val="1"/>
                <c:pt idx="0">
                  <c:v>Waiting passengers</c:v>
                </c:pt>
              </c:strCache>
            </c:strRef>
          </c:tx>
          <c:spPr>
            <a:solidFill>
              <a:srgbClr val="5B6B9A"/>
            </a:solidFill>
            <a:effectLst/>
          </c:spPr>
          <c:invertIfNegative val="0"/>
          <c:dLbls>
            <c:numFmt formatCode="#,##0" sourceLinked="0"/>
            <c:txPr>
              <a:bodyPr/>
              <a:lstStyle/>
              <a:p>
                <a:pPr>
                  <a:defRPr b="0" i="0" strike="noStrike" sz="1000" u="none">
                    <a:solidFill>
                      <a:srgbClr val="151929"/>
                    </a:solidFill>
                    <a:latin typeface="+mn-lt"/>
                  </a:defRPr>
                </a:pPr>
              </a:p>
            </c:txPr>
            <c:showLegendKey val="0"/>
            <c:showVal val="1"/>
            <c:showCatName val="0"/>
            <c:showSerName val="0"/>
            <c:showPercent val="0"/>
            <c:showBubbleSize val="0"/>
            <c:showLeaderLines val="0"/>
          </c:dLbls>
          <c:cat>
            <c:multiLvlStrRef>
              <c:f>Sheet1!$A$2:$A$13</c:f>
              <c:multiLvlStrCache>
                <c:ptCount val="12"/>
                <c:lvl>
                  <c:pt idx="0">
                    <c:v>Tower 5</c:v>
                  </c:pt>
                  <c:pt idx="1">
                    <c:v>Library</c:v>
                  </c:pt>
                  <c:pt idx="2">
                    <c:v>Admin Block</c:v>
                  </c:pt>
                  <c:pt idx="3">
                    <c:v>Tower 3</c:v>
                  </c:pt>
                  <c:pt idx="4">
                    <c:v>Tower 2</c:v>
                  </c:pt>
                  <c:pt idx="5">
                    <c:v>Main Gate</c:v>
                  </c:pt>
                  <c:pt idx="6">
                    <c:v>The Oval</c:v>
                  </c:pt>
                  <c:pt idx="7">
                    <c:v>Law School</c:v>
                  </c:pt>
                  <c:pt idx="8">
                    <c:v>Sports Complex</c:v>
                  </c:pt>
                  <c:pt idx="9">
                    <c:v>Architecture</c:v>
                  </c:pt>
                  <c:pt idx="10">
                    <c:v>Blue Ember</c:v>
                  </c:pt>
                  <c:pt idx="11">
                    <c:v>AI Research</c:v>
                  </c:pt>
                </c:lvl>
              </c:multiLvlStrCache>
            </c:multiLvlStrRef>
          </c:cat>
          <c:val>
            <c:numRef>
              <c:f>Sheet1!$B$2:$B$13</c:f>
              <c:numCache>
                <c:formatCode>General</c:formatCode>
                <c:ptCount val="12"/>
                <c:pt idx="0">
                  <c:v>26</c:v>
                </c:pt>
                <c:pt idx="1">
                  <c:v>22</c:v>
                </c:pt>
                <c:pt idx="2">
                  <c:v>18</c:v>
                </c:pt>
                <c:pt idx="3">
                  <c:v>17</c:v>
                </c:pt>
                <c:pt idx="4">
                  <c:v>15</c:v>
                </c:pt>
                <c:pt idx="5">
                  <c:v>14</c:v>
                </c:pt>
                <c:pt idx="6">
                  <c:v>12</c:v>
                </c:pt>
                <c:pt idx="7">
                  <c:v>11</c:v>
                </c:pt>
                <c:pt idx="8">
                  <c:v>10</c:v>
                </c:pt>
                <c:pt idx="9">
                  <c:v>9</c:v>
                </c:pt>
                <c:pt idx="10">
                  <c:v>8</c:v>
                </c:pt>
                <c:pt idx="11">
                  <c:v>6</c:v>
                </c:pt>
              </c:numCache>
            </c:numRef>
          </c:val>
        </c:ser>
        <c:dLbls>
          <c:numFmt formatCode="#,##0" sourceLinked="0"/>
          <c:txPr>
            <a:bodyPr/>
            <a:lstStyle/>
            <a:p>
              <a:pPr>
                <a:defRPr b="0" i="0" strike="noStrike" sz="1000" u="none">
                  <a:solidFill>
                    <a:srgbClr val="15192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51929"/>
                </a:solidFill>
                <a:latin typeface="+mn-lt"/>
              </a:defRPr>
            </a:pPr>
            <a:endParaRPr lang="en-US"/>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my Design and Analysis of Algorithms project: a shuttle routing and capacity scheduling system for the Woxsen campus. I built a working web application that uses six algorithms from the syllabus on one shared campus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shuttles look simple, but route length, passenger demand, vehicle capacity and trip timing all interact. Doing this by hand leads to long waits, uneven seat use and overlapping trips. The objective is to reduce waiting through shorter routes, better seat allocation and conflict-free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model the campus as a weighted undirected graph. Each stop is a vertex and each road is an edge weighted by travel time in minutes. The map is a schematic of the real Woxsen stops from the campus map, not to scale. The highlighted path is the shortest route from Main Gate to Tower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greedy and dynamic programming each solve a different part of the problem. Dijkstra answers one passenger query. Floyd-Warshall prepares every pair in advance. Kruskal gives the cheapest connected road network. Activity Selection removes trip conflicts. The two knapsack variants show the difference between splitting groups and boarding them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three layers. The algorithm layer is separate from the interface, so presentation code can never change a result. All graph algorithms read the same edge weights, which avoids showing one set of times while calculating with another. There are two roles with different dashboards. The login uses fixed demonstration credentials, not real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if possible. Choose Main Gate to Tower 5 with 35 passengers and 40 seats. The app reports 12 minutes along Main Gate, AI Research, Admin Block, Library and Tower 5, with 5 seats remaining. Press Start shuttle to run the simulation. The movement is simulated from the route, not real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sees demand by stop, fleet status and a live verification panel. Changing demand or shuttle capacity on the Fleet and demand page recalculates the knapsack allocation straight away. The Algorithm lab shows each algorithm one at a time so every result can be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 starts at Main Gate with distance 0 and keeps finalising the nearest unvisited stop. The path is rebuilt from predecessors: 3 plus 2 plus 2 plus 5 gives 12 minutes. Another path through Law School also takes 12 minutes, so this is a tie and the algorithm keeps the first one it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 minute route is Dijkstra's result and the minimum network of 11 roads weighs 31. Activity Selection keeps 4 of 10 requested trips. For 40 seats, value is passengers multiplied by their average wait. The 0/1 knapsack boards Tower 5 and The Oval, using 38 seats with value 294. The fractional bound is 346, which is higher because it can split a group. These numbers come from my Woxsen sample data, so they differ from the earlier group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trust the screen output alone. Every result is checked by an independent condition: Dijkstra against Floyd-Warshall for all pairs, Kruskal against Prim, trip selection against a dynamic programming maximum, and capacity limits for both knapsack methods. These checks run live on the admin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academic prototype. It uses fixed data and simulated movement. Future work could add real road times, live vehicle locations, a persistent database and multi-vehicle scheduling, while keeping routing, scheduling, allocation and presentation logic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each algorithm solves the sub-problem it suits, and putting them behind one working interface makes every result visible and checkable.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Ishanth M  |  25WU0102101  |  B.Tech CSE-AIML Rhinos</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2697480"/>
            <a:ext cx="7863840" cy="4572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554480"/>
          </a:xfrm>
          <a:prstGeom prst="rect">
            <a:avLst/>
          </a:prstGeom>
          <a:noFill/>
          <a:ln/>
        </p:spPr>
        <p:txBody>
          <a:bodyPr wrap="square" lIns="0" tIns="0" rIns="0" bIns="0" rtlCol="0" anchor="t"/>
          <a:lstStyle/>
          <a:p>
            <a:pPr algn="l" indent="0" marL="0">
              <a:buNone/>
            </a:pPr>
            <a:r>
              <a:rPr lang="en-US" sz="4000" b="1" dirty="0">
                <a:solidFill>
                  <a:schemeClr val="bg1"/>
                </a:solidFill>
              </a:rPr>
              <a:t>Campus Shuttle Routing and Capacity Scheduling System</a:t>
            </a:r>
            <a:endParaRPr lang="en-US" sz="4000" dirty="0"/>
          </a:p>
        </p:txBody>
      </p:sp>
      <p:sp>
        <p:nvSpPr>
          <p:cNvPr id="3" name="Text 0"/>
          <p:cNvSpPr/>
          <p:nvPr>
            <p:ph idx="101" type="body" hasCustomPrompt="1"/>
          </p:nvPr>
        </p:nvSpPr>
        <p:spPr>
          <a:xfrm>
            <a:off x="640080" y="2697480"/>
            <a:ext cx="7863840" cy="457200"/>
          </a:xfrm>
          <a:prstGeom prst="rect">
            <a:avLst/>
          </a:prstGeom>
          <a:noFill/>
          <a:ln/>
        </p:spPr>
        <p:txBody>
          <a:bodyPr wrap="square" lIns="0" tIns="0" rIns="0" bIns="0" rtlCol="0" anchor="t"/>
          <a:lstStyle/>
          <a:p>
            <a:pPr algn="l" indent="0" marL="0">
              <a:buNone/>
            </a:pPr>
            <a:r>
              <a:rPr lang="en-US" sz="1800" dirty="0">
                <a:solidFill>
                  <a:schemeClr val="bg2"/>
                </a:solidFill>
              </a:rPr>
              <a:t>Route optimisation and capacity scheduling for Woxsen University using DAA algorithms</a:t>
            </a:r>
            <a:endParaRPr lang="en-US" sz="1800" dirty="0"/>
          </a:p>
        </p:txBody>
      </p:sp>
      <p:sp>
        <p:nvSpPr>
          <p:cNvPr id="4" name="Presenter label"/>
          <p:cNvSpPr txBox="1"/>
          <p:nvPr/>
        </p:nvSpPr>
        <p:spPr>
          <a:xfrm>
            <a:off x="640080" y="3611880"/>
            <a:ext cx="27432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Presented by</a:t>
            </a:r>
            <a:endParaRPr lang="en-US" sz="1200" dirty="0"/>
          </a:p>
        </p:txBody>
      </p:sp>
      <p:sp>
        <p:nvSpPr>
          <p:cNvPr id="5" name="Presenter"/>
          <p:cNvSpPr txBox="1"/>
          <p:nvPr/>
        </p:nvSpPr>
        <p:spPr>
          <a:xfrm>
            <a:off x="640080" y="3886200"/>
            <a:ext cx="4572000" cy="685800"/>
          </a:xfrm>
          <a:prstGeom prst="rect">
            <a:avLst/>
          </a:prstGeom>
          <a:noFill/>
          <a:ln/>
        </p:spPr>
        <p:txBody>
          <a:bodyPr wrap="square" lIns="0" tIns="0" rIns="0" bIns="0" rtlCol="0" anchor="t"/>
          <a:lstStyle/>
          <a:p>
            <a:pPr indent="0" marL="0">
              <a:buNone/>
            </a:pPr>
            <a:r>
              <a:rPr lang="en-US" sz="2000" b="1" dirty="0">
                <a:solidFill>
                  <a:schemeClr val="bg1"/>
                </a:solidFill>
              </a:rPr>
              <a:t>Ishanth M</a:t>
            </a:r>
            <a:endParaRPr lang="en-US" sz="1400" dirty="0"/>
          </a:p>
          <a:p>
            <a:pPr indent="0" marL="0">
              <a:buNone/>
            </a:pPr>
            <a:r>
              <a:rPr lang="en-US" sz="1400" dirty="0">
                <a:solidFill>
                  <a:schemeClr val="bg2"/>
                </a:solidFill>
              </a:rPr>
              <a:t>Roll no. 25WU0102101  |  B.Tech CSE-AIML, Rhinos</a:t>
            </a:r>
            <a:endParaRPr lang="en-US" sz="1400" dirty="0"/>
          </a:p>
        </p:txBody>
      </p:sp>
      <p:sp>
        <p:nvSpPr>
          <p:cNvPr id="6" name="Course"/>
          <p:cNvSpPr txBox="1"/>
          <p:nvPr/>
        </p:nvSpPr>
        <p:spPr>
          <a:xfrm>
            <a:off x="4846320" y="3886200"/>
            <a:ext cx="3657600" cy="685800"/>
          </a:xfrm>
          <a:prstGeom prst="rect">
            <a:avLst/>
          </a:prstGeom>
          <a:noFill/>
          <a:ln/>
        </p:spPr>
        <p:txBody>
          <a:bodyPr wrap="square" lIns="0" tIns="0" rIns="0" bIns="0" rtlCol="0" anchor="t"/>
          <a:lstStyle/>
          <a:p>
            <a:pPr algn="r" indent="0" marL="0">
              <a:buNone/>
            </a:pPr>
            <a:r>
              <a:rPr lang="en-US" sz="1400" dirty="0">
                <a:solidFill>
                  <a:schemeClr val="bg2"/>
                </a:solidFill>
              </a:rPr>
              <a:t>Design and Analysis of Algorithms (25TU03MJM1)</a:t>
            </a:r>
            <a:endParaRPr lang="en-US" sz="1400" dirty="0"/>
          </a:p>
          <a:p>
            <a:pPr algn="r" indent="0" marL="0">
              <a:buNone/>
            </a:pPr>
            <a:r>
              <a:rPr lang="en-US" sz="1400" dirty="0">
                <a:solidFill>
                  <a:schemeClr val="bg2"/>
                </a:solidFill>
              </a:rPr>
              <a:t>Faculty: Dr. Monday Justin Abdullahi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The problem on campus</a:t>
            </a:r>
            <a:endParaRPr lang="en-US" sz="3200" dirty="0"/>
          </a:p>
        </p:txBody>
      </p:sp>
      <p:sp>
        <p:nvSpPr>
          <p:cNvPr id="3" name="Problem card 1"/>
          <p:cNvSpPr/>
          <p:nvPr/>
        </p:nvSpPr>
        <p:spPr>
          <a:xfrm>
            <a:off x="548640" y="1371600"/>
            <a:ext cx="4846320" cy="914400"/>
          </a:xfrm>
          <a:prstGeom prst="roundRect">
            <a:avLst>
              <a:gd name="adj" fmla="val 8000"/>
            </a:avLst>
          </a:prstGeom>
          <a:solidFill>
            <a:schemeClr val="bg2"/>
          </a:solidFill>
          <a:ln/>
        </p:spPr>
      </p:sp>
      <p:sp>
        <p:nvSpPr>
          <p:cNvPr id="4" name="Problem icon 1"/>
          <p:cNvSpPr/>
          <p:nvPr/>
        </p:nvSpPr>
        <p:spPr>
          <a:xfrm>
            <a:off x="713232" y="1554480"/>
            <a:ext cx="548640" cy="548640"/>
          </a:xfrm>
          <a:prstGeom prst="ellipse">
            <a:avLst/>
          </a:prstGeom>
          <a:solidFill>
            <a:srgbClr val="C8203F"/>
          </a:solidFill>
          <a:ln/>
        </p:spPr>
      </p:sp>
      <p:pic>
        <p:nvPicPr>
          <p:cNvPr id="5" name="Image 0" descr="Problem icon 1">    </p:cNvPr>
          <p:cNvPicPr>
            <a:picLocks noChangeAspect="1"/>
          </p:cNvPicPr>
          <p:nvPr/>
        </p:nvPicPr>
        <p:blipFill>
          <a:blip r:embed="rId1"/>
          <a:stretch>
            <a:fillRect/>
          </a:stretch>
        </p:blipFill>
        <p:spPr>
          <a:xfrm>
            <a:off x="850392" y="1691640"/>
            <a:ext cx="274320" cy="274320"/>
          </a:xfrm>
          <a:prstGeom prst="rect">
            <a:avLst/>
          </a:prstGeom>
        </p:spPr>
      </p:pic>
      <p:sp>
        <p:nvSpPr>
          <p:cNvPr id="6" name="Problem title 1"/>
          <p:cNvSpPr txBox="1"/>
          <p:nvPr/>
        </p:nvSpPr>
        <p:spPr>
          <a:xfrm>
            <a:off x="1463040" y="1481328"/>
            <a:ext cx="3840480" cy="274320"/>
          </a:xfrm>
          <a:prstGeom prst="rect">
            <a:avLst/>
          </a:prstGeom>
          <a:noFill/>
          <a:ln/>
        </p:spPr>
        <p:txBody>
          <a:bodyPr wrap="square" lIns="0" tIns="0" rIns="0" bIns="0" rtlCol="0" anchor="t"/>
          <a:lstStyle/>
          <a:p>
            <a:pPr indent="0" marL="0">
              <a:buNone/>
            </a:pPr>
            <a:r>
              <a:rPr lang="en-US" sz="1600" b="1" dirty="0">
                <a:solidFill>
                  <a:schemeClr val="tx1"/>
                </a:solidFill>
              </a:rPr>
              <a:t>Long waits at busy stops</a:t>
            </a:r>
            <a:endParaRPr lang="en-US" sz="1600" dirty="0"/>
          </a:p>
        </p:txBody>
      </p:sp>
      <p:sp>
        <p:nvSpPr>
          <p:cNvPr id="7" name="Problem text 1"/>
          <p:cNvSpPr txBox="1"/>
          <p:nvPr/>
        </p:nvSpPr>
        <p:spPr>
          <a:xfrm>
            <a:off x="1463040" y="1773936"/>
            <a:ext cx="3840480" cy="457200"/>
          </a:xfrm>
          <a:prstGeom prst="rect">
            <a:avLst/>
          </a:prstGeom>
          <a:noFill/>
          <a:ln/>
        </p:spPr>
        <p:txBody>
          <a:bodyPr wrap="square" lIns="0" tIns="0" rIns="0" bIns="0" rtlCol="0" anchor="t"/>
          <a:lstStyle/>
          <a:p>
            <a:pPr indent="0" marL="0">
              <a:buNone/>
            </a:pPr>
            <a:r>
              <a:rPr lang="en-US" sz="1200" dirty="0">
                <a:solidFill>
                  <a:schemeClr val="tx2"/>
                </a:solidFill>
              </a:rPr>
              <a:t>Demand peaks at the Towers, Library and Admin Block, but routes and timings are decided by hand.</a:t>
            </a:r>
            <a:endParaRPr lang="en-US" sz="1200" dirty="0"/>
          </a:p>
        </p:txBody>
      </p:sp>
      <p:sp>
        <p:nvSpPr>
          <p:cNvPr id="8" name="Problem card 2"/>
          <p:cNvSpPr/>
          <p:nvPr/>
        </p:nvSpPr>
        <p:spPr>
          <a:xfrm>
            <a:off x="548640" y="2450592"/>
            <a:ext cx="4846320" cy="914400"/>
          </a:xfrm>
          <a:prstGeom prst="roundRect">
            <a:avLst>
              <a:gd name="adj" fmla="val 8000"/>
            </a:avLst>
          </a:prstGeom>
          <a:solidFill>
            <a:schemeClr val="bg2"/>
          </a:solidFill>
          <a:ln/>
        </p:spPr>
      </p:sp>
      <p:sp>
        <p:nvSpPr>
          <p:cNvPr id="9" name="Problem icon 2"/>
          <p:cNvSpPr/>
          <p:nvPr/>
        </p:nvSpPr>
        <p:spPr>
          <a:xfrm>
            <a:off x="713232" y="2633472"/>
            <a:ext cx="548640" cy="548640"/>
          </a:xfrm>
          <a:prstGeom prst="ellipse">
            <a:avLst/>
          </a:prstGeom>
          <a:solidFill>
            <a:srgbClr val="C8203F"/>
          </a:solidFill>
          <a:ln/>
        </p:spPr>
      </p:sp>
      <p:pic>
        <p:nvPicPr>
          <p:cNvPr id="10" name="Image 1" descr="Problem icon 2">    </p:cNvPr>
          <p:cNvPicPr>
            <a:picLocks noChangeAspect="1"/>
          </p:cNvPicPr>
          <p:nvPr/>
        </p:nvPicPr>
        <p:blipFill>
          <a:blip r:embed="rId2"/>
          <a:stretch>
            <a:fillRect/>
          </a:stretch>
        </p:blipFill>
        <p:spPr>
          <a:xfrm>
            <a:off x="850392" y="2770632"/>
            <a:ext cx="274320" cy="274320"/>
          </a:xfrm>
          <a:prstGeom prst="rect">
            <a:avLst/>
          </a:prstGeom>
        </p:spPr>
      </p:pic>
      <p:sp>
        <p:nvSpPr>
          <p:cNvPr id="11" name="Problem title 2"/>
          <p:cNvSpPr txBox="1"/>
          <p:nvPr/>
        </p:nvSpPr>
        <p:spPr>
          <a:xfrm>
            <a:off x="1463040" y="2560320"/>
            <a:ext cx="3840480" cy="274320"/>
          </a:xfrm>
          <a:prstGeom prst="rect">
            <a:avLst/>
          </a:prstGeom>
          <a:noFill/>
          <a:ln/>
        </p:spPr>
        <p:txBody>
          <a:bodyPr wrap="square" lIns="0" tIns="0" rIns="0" bIns="0" rtlCol="0" anchor="t"/>
          <a:lstStyle/>
          <a:p>
            <a:pPr indent="0" marL="0">
              <a:buNone/>
            </a:pPr>
            <a:r>
              <a:rPr lang="en-US" sz="1600" b="1" dirty="0">
                <a:solidFill>
                  <a:schemeClr val="tx1"/>
                </a:solidFill>
              </a:rPr>
              <a:t>Full shuttles and empty seats</a:t>
            </a:r>
            <a:endParaRPr lang="en-US" sz="1600" dirty="0"/>
          </a:p>
        </p:txBody>
      </p:sp>
      <p:sp>
        <p:nvSpPr>
          <p:cNvPr id="12" name="Problem text 2"/>
          <p:cNvSpPr txBox="1"/>
          <p:nvPr/>
        </p:nvSpPr>
        <p:spPr>
          <a:xfrm>
            <a:off x="1463040" y="2852928"/>
            <a:ext cx="3840480" cy="457200"/>
          </a:xfrm>
          <a:prstGeom prst="rect">
            <a:avLst/>
          </a:prstGeom>
          <a:noFill/>
          <a:ln/>
        </p:spPr>
        <p:txBody>
          <a:bodyPr wrap="square" lIns="0" tIns="0" rIns="0" bIns="0" rtlCol="0" anchor="t"/>
          <a:lstStyle/>
          <a:p>
            <a:pPr indent="0" marL="0">
              <a:buNone/>
            </a:pPr>
            <a:r>
              <a:rPr lang="en-US" sz="1200" dirty="0">
                <a:solidFill>
                  <a:schemeClr val="tx2"/>
                </a:solidFill>
              </a:rPr>
              <a:t>Passenger demand and shuttle capacity are checked separately, so seats are used unevenly.</a:t>
            </a:r>
            <a:endParaRPr lang="en-US" sz="1200" dirty="0"/>
          </a:p>
        </p:txBody>
      </p:sp>
      <p:sp>
        <p:nvSpPr>
          <p:cNvPr id="13" name="Problem card 3"/>
          <p:cNvSpPr/>
          <p:nvPr/>
        </p:nvSpPr>
        <p:spPr>
          <a:xfrm>
            <a:off x="548640" y="3529584"/>
            <a:ext cx="4846320" cy="914400"/>
          </a:xfrm>
          <a:prstGeom prst="roundRect">
            <a:avLst>
              <a:gd name="adj" fmla="val 8000"/>
            </a:avLst>
          </a:prstGeom>
          <a:solidFill>
            <a:schemeClr val="bg2"/>
          </a:solidFill>
          <a:ln/>
        </p:spPr>
      </p:sp>
      <p:sp>
        <p:nvSpPr>
          <p:cNvPr id="14" name="Problem icon 3"/>
          <p:cNvSpPr/>
          <p:nvPr/>
        </p:nvSpPr>
        <p:spPr>
          <a:xfrm>
            <a:off x="713232" y="3712464"/>
            <a:ext cx="548640" cy="548640"/>
          </a:xfrm>
          <a:prstGeom prst="ellipse">
            <a:avLst/>
          </a:prstGeom>
          <a:solidFill>
            <a:srgbClr val="C8203F"/>
          </a:solidFill>
          <a:ln/>
        </p:spPr>
      </p:sp>
      <p:pic>
        <p:nvPicPr>
          <p:cNvPr id="15" name="Image 2" descr="Problem icon 3">    </p:cNvPr>
          <p:cNvPicPr>
            <a:picLocks noChangeAspect="1"/>
          </p:cNvPicPr>
          <p:nvPr/>
        </p:nvPicPr>
        <p:blipFill>
          <a:blip r:embed="rId3"/>
          <a:stretch>
            <a:fillRect/>
          </a:stretch>
        </p:blipFill>
        <p:spPr>
          <a:xfrm>
            <a:off x="850392" y="3849624"/>
            <a:ext cx="274320" cy="274320"/>
          </a:xfrm>
          <a:prstGeom prst="rect">
            <a:avLst/>
          </a:prstGeom>
        </p:spPr>
      </p:pic>
      <p:sp>
        <p:nvSpPr>
          <p:cNvPr id="16" name="Problem title 3"/>
          <p:cNvSpPr txBox="1"/>
          <p:nvPr/>
        </p:nvSpPr>
        <p:spPr>
          <a:xfrm>
            <a:off x="1463040" y="3639312"/>
            <a:ext cx="3840480" cy="274320"/>
          </a:xfrm>
          <a:prstGeom prst="rect">
            <a:avLst/>
          </a:prstGeom>
          <a:noFill/>
          <a:ln/>
        </p:spPr>
        <p:txBody>
          <a:bodyPr wrap="square" lIns="0" tIns="0" rIns="0" bIns="0" rtlCol="0" anchor="t"/>
          <a:lstStyle/>
          <a:p>
            <a:pPr indent="0" marL="0">
              <a:buNone/>
            </a:pPr>
            <a:r>
              <a:rPr lang="en-US" sz="1600" b="1" dirty="0">
                <a:solidFill>
                  <a:schemeClr val="tx1"/>
                </a:solidFill>
              </a:rPr>
              <a:t>Overlapping trips</a:t>
            </a:r>
            <a:endParaRPr lang="en-US" sz="1600" dirty="0"/>
          </a:p>
        </p:txBody>
      </p:sp>
      <p:sp>
        <p:nvSpPr>
          <p:cNvPr id="17" name="Problem text 3"/>
          <p:cNvSpPr txBox="1"/>
          <p:nvPr/>
        </p:nvSpPr>
        <p:spPr>
          <a:xfrm>
            <a:off x="1463040" y="3931920"/>
            <a:ext cx="3840480" cy="457200"/>
          </a:xfrm>
          <a:prstGeom prst="rect">
            <a:avLst/>
          </a:prstGeom>
          <a:noFill/>
          <a:ln/>
        </p:spPr>
        <p:txBody>
          <a:bodyPr wrap="square" lIns="0" tIns="0" rIns="0" bIns="0" rtlCol="0" anchor="t"/>
          <a:lstStyle/>
          <a:p>
            <a:pPr indent="0" marL="0">
              <a:buNone/>
            </a:pPr>
            <a:r>
              <a:rPr lang="en-US" sz="1200" dirty="0">
                <a:solidFill>
                  <a:schemeClr val="tx2"/>
                </a:solidFill>
              </a:rPr>
              <a:t>Without a check, two planned trips can need the same shuttle at the same time.</a:t>
            </a:r>
            <a:endParaRPr lang="en-US" sz="1200" dirty="0"/>
          </a:p>
        </p:txBody>
      </p:sp>
      <p:sp>
        <p:nvSpPr>
          <p:cNvPr id="18" name="Objective card"/>
          <p:cNvSpPr/>
          <p:nvPr/>
        </p:nvSpPr>
        <p:spPr>
          <a:xfrm>
            <a:off x="5669280" y="1371600"/>
            <a:ext cx="2926080" cy="3072384"/>
          </a:xfrm>
          <a:prstGeom prst="roundRect">
            <a:avLst>
              <a:gd name="adj" fmla="val 2500"/>
            </a:avLst>
          </a:prstGeom>
          <a:solidFill>
            <a:schemeClr val="tx1"/>
          </a:solidFill>
          <a:ln/>
          <a:effectLst>
            <a:outerShdw sx="100000" sy="100000" kx="0" ky="0" algn="bl" rotWithShape="0" blurRad="101600" dist="25400" dir="5400000">
              <a:srgbClr val="000000">
                <a:alpha val="14000"/>
              </a:srgbClr>
            </a:outerShdw>
          </a:effectLst>
        </p:spPr>
      </p:sp>
      <p:sp>
        <p:nvSpPr>
          <p:cNvPr id="19" name="Objective label"/>
          <p:cNvSpPr txBox="1"/>
          <p:nvPr/>
        </p:nvSpPr>
        <p:spPr>
          <a:xfrm>
            <a:off x="5897880" y="1572768"/>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MAIN OBJECTIVE</a:t>
            </a:r>
            <a:endParaRPr lang="en-US" sz="1200" dirty="0"/>
          </a:p>
        </p:txBody>
      </p:sp>
      <p:sp>
        <p:nvSpPr>
          <p:cNvPr id="20" name="Objective text"/>
          <p:cNvSpPr txBox="1"/>
          <p:nvPr/>
        </p:nvSpPr>
        <p:spPr>
          <a:xfrm>
            <a:off x="5897880" y="1920240"/>
            <a:ext cx="2468880" cy="2377440"/>
          </a:xfrm>
          <a:prstGeom prst="rect">
            <a:avLst/>
          </a:prstGeom>
          <a:noFill/>
          <a:ln/>
        </p:spPr>
        <p:txBody>
          <a:bodyPr wrap="square" lIns="0" tIns="0" rIns="0" bIns="0" rtlCol="0" anchor="t"/>
          <a:lstStyle/>
          <a:p>
            <a:pPr indent="0" marL="0">
              <a:buNone/>
            </a:pPr>
            <a:r>
              <a:rPr lang="en-US" sz="1800" dirty="0">
                <a:solidFill>
                  <a:schemeClr val="bg1"/>
                </a:solidFill>
              </a:rPr>
              <a:t>Cut passenger waiting time by finding shorter routes, allocating seats well and choosing trips that do not collide.</a:t>
            </a:r>
            <a:endParaRPr lang="en-US" sz="18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Modelling the campus as a graph</a:t>
            </a:r>
            <a:endParaRPr lang="en-US" sz="3200" dirty="0"/>
          </a:p>
        </p:txBody>
      </p:sp>
      <p:sp>
        <p:nvSpPr>
          <p:cNvPr id="3" name="Graph panel"/>
          <p:cNvSpPr/>
          <p:nvPr/>
        </p:nvSpPr>
        <p:spPr>
          <a:xfrm>
            <a:off x="411480" y="1143000"/>
            <a:ext cx="5303520" cy="3566160"/>
          </a:xfrm>
          <a:prstGeom prst="roundRect">
            <a:avLst>
              <a:gd name="adj" fmla="val 1538"/>
            </a:avLst>
          </a:prstGeom>
          <a:solidFill>
            <a:schemeClr val="bg2"/>
          </a:solidFill>
          <a:ln/>
        </p:spPr>
      </p:sp>
      <p:sp>
        <p:nvSpPr>
          <p:cNvPr id="4" name="Road MG-AI"/>
          <p:cNvSpPr/>
          <p:nvPr/>
        </p:nvSpPr>
        <p:spPr>
          <a:xfrm>
            <a:off x="1097280" y="1554480"/>
            <a:ext cx="160020" cy="693420"/>
          </a:xfrm>
          <a:prstGeom prst="line">
            <a:avLst/>
          </a:prstGeom>
          <a:noFill/>
          <a:ln w="50800">
            <a:solidFill>
              <a:schemeClr val="accent2"/>
            </a:solidFill>
            <a:prstDash val="solid"/>
          </a:ln>
        </p:spPr>
      </p:sp>
      <p:sp>
        <p:nvSpPr>
          <p:cNvPr id="5" name="Road AI-AB"/>
          <p:cNvSpPr/>
          <p:nvPr/>
        </p:nvSpPr>
        <p:spPr>
          <a:xfrm>
            <a:off x="1257300" y="2247900"/>
            <a:ext cx="266700" cy="640080"/>
          </a:xfrm>
          <a:prstGeom prst="line">
            <a:avLst/>
          </a:prstGeom>
          <a:noFill/>
          <a:ln w="50800">
            <a:solidFill>
              <a:schemeClr val="accent2"/>
            </a:solidFill>
            <a:prstDash val="solid"/>
          </a:ln>
        </p:spPr>
      </p:sp>
      <p:sp>
        <p:nvSpPr>
          <p:cNvPr id="6" name="Road AI-AR"/>
          <p:cNvSpPr/>
          <p:nvPr/>
        </p:nvSpPr>
        <p:spPr>
          <a:xfrm flipV="1">
            <a:off x="1257300" y="2141220"/>
            <a:ext cx="1333500" cy="106680"/>
          </a:xfrm>
          <a:prstGeom prst="line">
            <a:avLst/>
          </a:prstGeom>
          <a:noFill/>
          <a:ln w="19050">
            <a:solidFill>
              <a:srgbClr val="C5C9D8"/>
            </a:solidFill>
            <a:prstDash val="solid"/>
          </a:ln>
        </p:spPr>
      </p:sp>
      <p:sp>
        <p:nvSpPr>
          <p:cNvPr id="7" name="Road AR-LW"/>
          <p:cNvSpPr/>
          <p:nvPr/>
        </p:nvSpPr>
        <p:spPr>
          <a:xfrm>
            <a:off x="2590800" y="2141220"/>
            <a:ext cx="213360" cy="800100"/>
          </a:xfrm>
          <a:prstGeom prst="line">
            <a:avLst/>
          </a:prstGeom>
          <a:noFill/>
          <a:ln w="19050">
            <a:solidFill>
              <a:srgbClr val="C5C9D8"/>
            </a:solidFill>
            <a:prstDash val="solid"/>
          </a:ln>
        </p:spPr>
      </p:sp>
      <p:sp>
        <p:nvSpPr>
          <p:cNvPr id="8" name="Road AB-LW"/>
          <p:cNvSpPr/>
          <p:nvPr/>
        </p:nvSpPr>
        <p:spPr>
          <a:xfrm>
            <a:off x="1524000" y="2887980"/>
            <a:ext cx="1280160" cy="53340"/>
          </a:xfrm>
          <a:prstGeom prst="line">
            <a:avLst/>
          </a:prstGeom>
          <a:noFill/>
          <a:ln w="19050">
            <a:solidFill>
              <a:srgbClr val="C5C9D8"/>
            </a:solidFill>
            <a:prstDash val="solid"/>
          </a:ln>
        </p:spPr>
      </p:sp>
      <p:sp>
        <p:nvSpPr>
          <p:cNvPr id="9" name="Road AB-LB"/>
          <p:cNvSpPr/>
          <p:nvPr/>
        </p:nvSpPr>
        <p:spPr>
          <a:xfrm>
            <a:off x="1524000" y="2887980"/>
            <a:ext cx="213360" cy="746760"/>
          </a:xfrm>
          <a:prstGeom prst="line">
            <a:avLst/>
          </a:prstGeom>
          <a:noFill/>
          <a:ln w="50800">
            <a:solidFill>
              <a:schemeClr val="accent2"/>
            </a:solidFill>
            <a:prstDash val="solid"/>
          </a:ln>
        </p:spPr>
      </p:sp>
      <p:sp>
        <p:nvSpPr>
          <p:cNvPr id="10" name="Road AB-BE"/>
          <p:cNvSpPr/>
          <p:nvPr/>
        </p:nvSpPr>
        <p:spPr>
          <a:xfrm flipV="1">
            <a:off x="883920" y="2887980"/>
            <a:ext cx="640080" cy="586740"/>
          </a:xfrm>
          <a:prstGeom prst="line">
            <a:avLst/>
          </a:prstGeom>
          <a:noFill/>
          <a:ln w="19050">
            <a:solidFill>
              <a:srgbClr val="C5C9D8"/>
            </a:solidFill>
            <a:prstDash val="solid"/>
          </a:ln>
        </p:spPr>
      </p:sp>
      <p:sp>
        <p:nvSpPr>
          <p:cNvPr id="11" name="Road LB-BE"/>
          <p:cNvSpPr/>
          <p:nvPr/>
        </p:nvSpPr>
        <p:spPr>
          <a:xfrm>
            <a:off x="883920" y="3474720"/>
            <a:ext cx="853440" cy="160020"/>
          </a:xfrm>
          <a:prstGeom prst="line">
            <a:avLst/>
          </a:prstGeom>
          <a:noFill/>
          <a:ln w="19050">
            <a:solidFill>
              <a:srgbClr val="C5C9D8"/>
            </a:solidFill>
            <a:prstDash val="solid"/>
          </a:ln>
        </p:spPr>
      </p:sp>
      <p:sp>
        <p:nvSpPr>
          <p:cNvPr id="12" name="Road LB-OV"/>
          <p:cNvSpPr/>
          <p:nvPr/>
        </p:nvSpPr>
        <p:spPr>
          <a:xfrm>
            <a:off x="1737360" y="3634740"/>
            <a:ext cx="960120" cy="640080"/>
          </a:xfrm>
          <a:prstGeom prst="line">
            <a:avLst/>
          </a:prstGeom>
          <a:noFill/>
          <a:ln w="19050">
            <a:solidFill>
              <a:srgbClr val="C5C9D8"/>
            </a:solidFill>
            <a:prstDash val="solid"/>
          </a:ln>
        </p:spPr>
      </p:sp>
      <p:sp>
        <p:nvSpPr>
          <p:cNvPr id="13" name="Road LB-T5"/>
          <p:cNvSpPr/>
          <p:nvPr/>
        </p:nvSpPr>
        <p:spPr>
          <a:xfrm>
            <a:off x="1737360" y="3634740"/>
            <a:ext cx="1706880" cy="106680"/>
          </a:xfrm>
          <a:prstGeom prst="line">
            <a:avLst/>
          </a:prstGeom>
          <a:noFill/>
          <a:ln w="50800">
            <a:solidFill>
              <a:schemeClr val="accent2"/>
            </a:solidFill>
            <a:prstDash val="solid"/>
          </a:ln>
        </p:spPr>
      </p:sp>
      <p:sp>
        <p:nvSpPr>
          <p:cNvPr id="14" name="Road LW-T5"/>
          <p:cNvSpPr/>
          <p:nvPr/>
        </p:nvSpPr>
        <p:spPr>
          <a:xfrm>
            <a:off x="2804160" y="2941320"/>
            <a:ext cx="640080" cy="800100"/>
          </a:xfrm>
          <a:prstGeom prst="line">
            <a:avLst/>
          </a:prstGeom>
          <a:noFill/>
          <a:ln w="19050">
            <a:solidFill>
              <a:srgbClr val="C5C9D8"/>
            </a:solidFill>
            <a:prstDash val="solid"/>
          </a:ln>
        </p:spPr>
      </p:sp>
      <p:sp>
        <p:nvSpPr>
          <p:cNvPr id="15" name="Road LW-T3"/>
          <p:cNvSpPr/>
          <p:nvPr/>
        </p:nvSpPr>
        <p:spPr>
          <a:xfrm>
            <a:off x="2804160" y="2941320"/>
            <a:ext cx="1600200" cy="426720"/>
          </a:xfrm>
          <a:prstGeom prst="line">
            <a:avLst/>
          </a:prstGeom>
          <a:noFill/>
          <a:ln w="19050">
            <a:solidFill>
              <a:srgbClr val="C5C9D8"/>
            </a:solidFill>
            <a:prstDash val="solid"/>
          </a:ln>
        </p:spPr>
      </p:sp>
      <p:sp>
        <p:nvSpPr>
          <p:cNvPr id="16" name="Road T5-T3"/>
          <p:cNvSpPr/>
          <p:nvPr/>
        </p:nvSpPr>
        <p:spPr>
          <a:xfrm flipV="1">
            <a:off x="3444240" y="3368040"/>
            <a:ext cx="960120" cy="373380"/>
          </a:xfrm>
          <a:prstGeom prst="line">
            <a:avLst/>
          </a:prstGeom>
          <a:noFill/>
          <a:ln w="19050">
            <a:solidFill>
              <a:srgbClr val="C5C9D8"/>
            </a:solidFill>
            <a:prstDash val="solid"/>
          </a:ln>
        </p:spPr>
      </p:sp>
      <p:sp>
        <p:nvSpPr>
          <p:cNvPr id="17" name="Road T5-T2"/>
          <p:cNvSpPr/>
          <p:nvPr/>
        </p:nvSpPr>
        <p:spPr>
          <a:xfrm>
            <a:off x="3444240" y="3741420"/>
            <a:ext cx="1066800" cy="426720"/>
          </a:xfrm>
          <a:prstGeom prst="line">
            <a:avLst/>
          </a:prstGeom>
          <a:noFill/>
          <a:ln w="19050">
            <a:solidFill>
              <a:srgbClr val="C5C9D8"/>
            </a:solidFill>
            <a:prstDash val="solid"/>
          </a:ln>
        </p:spPr>
      </p:sp>
      <p:sp>
        <p:nvSpPr>
          <p:cNvPr id="18" name="Road T3-T2"/>
          <p:cNvSpPr/>
          <p:nvPr/>
        </p:nvSpPr>
        <p:spPr>
          <a:xfrm>
            <a:off x="4404360" y="3368040"/>
            <a:ext cx="106680" cy="800100"/>
          </a:xfrm>
          <a:prstGeom prst="line">
            <a:avLst/>
          </a:prstGeom>
          <a:noFill/>
          <a:ln w="19050">
            <a:solidFill>
              <a:srgbClr val="C5C9D8"/>
            </a:solidFill>
            <a:prstDash val="solid"/>
          </a:ln>
        </p:spPr>
      </p:sp>
      <p:sp>
        <p:nvSpPr>
          <p:cNvPr id="19" name="Road T5-OV"/>
          <p:cNvSpPr/>
          <p:nvPr/>
        </p:nvSpPr>
        <p:spPr>
          <a:xfrm flipV="1">
            <a:off x="2697480" y="3741420"/>
            <a:ext cx="746760" cy="533400"/>
          </a:xfrm>
          <a:prstGeom prst="line">
            <a:avLst/>
          </a:prstGeom>
          <a:noFill/>
          <a:ln w="19050">
            <a:solidFill>
              <a:srgbClr val="C5C9D8"/>
            </a:solidFill>
            <a:prstDash val="solid"/>
          </a:ln>
        </p:spPr>
      </p:sp>
      <p:sp>
        <p:nvSpPr>
          <p:cNvPr id="20" name="Road OV-SP"/>
          <p:cNvSpPr/>
          <p:nvPr/>
        </p:nvSpPr>
        <p:spPr>
          <a:xfrm flipV="1">
            <a:off x="1150620" y="4274820"/>
            <a:ext cx="1546860" cy="80010"/>
          </a:xfrm>
          <a:prstGeom prst="line">
            <a:avLst/>
          </a:prstGeom>
          <a:noFill/>
          <a:ln w="19050">
            <a:solidFill>
              <a:srgbClr val="C5C9D8"/>
            </a:solidFill>
            <a:prstDash val="solid"/>
          </a:ln>
        </p:spPr>
      </p:sp>
      <p:sp>
        <p:nvSpPr>
          <p:cNvPr id="21" name="Road LB-SP"/>
          <p:cNvSpPr/>
          <p:nvPr/>
        </p:nvSpPr>
        <p:spPr>
          <a:xfrm flipV="1">
            <a:off x="1150620" y="3634740"/>
            <a:ext cx="586740" cy="720090"/>
          </a:xfrm>
          <a:prstGeom prst="line">
            <a:avLst/>
          </a:prstGeom>
          <a:noFill/>
          <a:ln w="19050">
            <a:solidFill>
              <a:srgbClr val="C5C9D8"/>
            </a:solidFill>
            <a:prstDash val="solid"/>
          </a:ln>
        </p:spPr>
      </p:sp>
      <p:sp>
        <p:nvSpPr>
          <p:cNvPr id="22" name="Road BE-SP"/>
          <p:cNvSpPr/>
          <p:nvPr/>
        </p:nvSpPr>
        <p:spPr>
          <a:xfrm>
            <a:off x="883920" y="3474720"/>
            <a:ext cx="266700" cy="880110"/>
          </a:xfrm>
          <a:prstGeom prst="line">
            <a:avLst/>
          </a:prstGeom>
          <a:noFill/>
          <a:ln w="19050">
            <a:solidFill>
              <a:srgbClr val="C5C9D8"/>
            </a:solidFill>
            <a:prstDash val="solid"/>
          </a:ln>
        </p:spPr>
      </p:sp>
      <p:sp>
        <p:nvSpPr>
          <p:cNvPr id="23" name="Weight MG-AI"/>
          <p:cNvSpPr txBox="1"/>
          <p:nvPr/>
        </p:nvSpPr>
        <p:spPr>
          <a:xfrm>
            <a:off x="1067562" y="180975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3</a:t>
            </a:r>
            <a:endParaRPr lang="en-US" sz="1000" dirty="0"/>
          </a:p>
        </p:txBody>
      </p:sp>
      <p:sp>
        <p:nvSpPr>
          <p:cNvPr id="24" name="Weight AI-AB"/>
          <p:cNvSpPr txBox="1"/>
          <p:nvPr/>
        </p:nvSpPr>
        <p:spPr>
          <a:xfrm>
            <a:off x="1280922" y="247650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2</a:t>
            </a:r>
            <a:endParaRPr lang="en-US" sz="1000" dirty="0"/>
          </a:p>
        </p:txBody>
      </p:sp>
      <p:sp>
        <p:nvSpPr>
          <p:cNvPr id="25" name="Weight AI-AR"/>
          <p:cNvSpPr txBox="1"/>
          <p:nvPr/>
        </p:nvSpPr>
        <p:spPr>
          <a:xfrm>
            <a:off x="1814322" y="210312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4</a:t>
            </a:r>
            <a:endParaRPr lang="en-US" sz="1000" dirty="0"/>
          </a:p>
        </p:txBody>
      </p:sp>
      <p:sp>
        <p:nvSpPr>
          <p:cNvPr id="26" name="Weight AR-LW"/>
          <p:cNvSpPr txBox="1"/>
          <p:nvPr/>
        </p:nvSpPr>
        <p:spPr>
          <a:xfrm>
            <a:off x="2587752" y="244983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2</a:t>
            </a:r>
            <a:endParaRPr lang="en-US" sz="1000" dirty="0"/>
          </a:p>
        </p:txBody>
      </p:sp>
      <p:sp>
        <p:nvSpPr>
          <p:cNvPr id="27" name="Weight AB-LW"/>
          <p:cNvSpPr txBox="1"/>
          <p:nvPr/>
        </p:nvSpPr>
        <p:spPr>
          <a:xfrm>
            <a:off x="2054352" y="282321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3</a:t>
            </a:r>
            <a:endParaRPr lang="en-US" sz="1000" dirty="0"/>
          </a:p>
        </p:txBody>
      </p:sp>
      <p:sp>
        <p:nvSpPr>
          <p:cNvPr id="28" name="Weight AB-LB"/>
          <p:cNvSpPr txBox="1"/>
          <p:nvPr/>
        </p:nvSpPr>
        <p:spPr>
          <a:xfrm>
            <a:off x="1520952" y="316992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2</a:t>
            </a:r>
            <a:endParaRPr lang="en-US" sz="1000" dirty="0"/>
          </a:p>
        </p:txBody>
      </p:sp>
      <p:sp>
        <p:nvSpPr>
          <p:cNvPr id="29" name="Weight AB-BE"/>
          <p:cNvSpPr txBox="1"/>
          <p:nvPr/>
        </p:nvSpPr>
        <p:spPr>
          <a:xfrm>
            <a:off x="1094232" y="308991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3</a:t>
            </a:r>
            <a:endParaRPr lang="en-US" sz="1000" dirty="0"/>
          </a:p>
        </p:txBody>
      </p:sp>
      <p:sp>
        <p:nvSpPr>
          <p:cNvPr id="30" name="Weight LB-BE"/>
          <p:cNvSpPr txBox="1"/>
          <p:nvPr/>
        </p:nvSpPr>
        <p:spPr>
          <a:xfrm>
            <a:off x="1200912" y="346329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2</a:t>
            </a:r>
            <a:endParaRPr lang="en-US" sz="1000" dirty="0"/>
          </a:p>
        </p:txBody>
      </p:sp>
      <p:sp>
        <p:nvSpPr>
          <p:cNvPr id="31" name="Weight LB-OV"/>
          <p:cNvSpPr txBox="1"/>
          <p:nvPr/>
        </p:nvSpPr>
        <p:spPr>
          <a:xfrm>
            <a:off x="2107692" y="386334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4</a:t>
            </a:r>
            <a:endParaRPr lang="en-US" sz="1000" dirty="0"/>
          </a:p>
        </p:txBody>
      </p:sp>
      <p:sp>
        <p:nvSpPr>
          <p:cNvPr id="32" name="Weight LB-T5"/>
          <p:cNvSpPr txBox="1"/>
          <p:nvPr/>
        </p:nvSpPr>
        <p:spPr>
          <a:xfrm>
            <a:off x="2481072" y="359664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5</a:t>
            </a:r>
            <a:endParaRPr lang="en-US" sz="1000" dirty="0"/>
          </a:p>
        </p:txBody>
      </p:sp>
      <p:sp>
        <p:nvSpPr>
          <p:cNvPr id="33" name="Weight LW-T5"/>
          <p:cNvSpPr txBox="1"/>
          <p:nvPr/>
        </p:nvSpPr>
        <p:spPr>
          <a:xfrm>
            <a:off x="3014472" y="324993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4</a:t>
            </a:r>
            <a:endParaRPr lang="en-US" sz="1000" dirty="0"/>
          </a:p>
        </p:txBody>
      </p:sp>
      <p:sp>
        <p:nvSpPr>
          <p:cNvPr id="34" name="Weight LW-T3"/>
          <p:cNvSpPr txBox="1"/>
          <p:nvPr/>
        </p:nvSpPr>
        <p:spPr>
          <a:xfrm>
            <a:off x="3494532" y="306324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5</a:t>
            </a:r>
            <a:endParaRPr lang="en-US" sz="1000" dirty="0"/>
          </a:p>
        </p:txBody>
      </p:sp>
      <p:sp>
        <p:nvSpPr>
          <p:cNvPr id="35" name="Weight T5-T3"/>
          <p:cNvSpPr txBox="1"/>
          <p:nvPr/>
        </p:nvSpPr>
        <p:spPr>
          <a:xfrm>
            <a:off x="3814572" y="346329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3</a:t>
            </a:r>
            <a:endParaRPr lang="en-US" sz="1000" dirty="0"/>
          </a:p>
        </p:txBody>
      </p:sp>
      <p:sp>
        <p:nvSpPr>
          <p:cNvPr id="36" name="Weight T5-T2"/>
          <p:cNvSpPr txBox="1"/>
          <p:nvPr/>
        </p:nvSpPr>
        <p:spPr>
          <a:xfrm>
            <a:off x="3867912" y="386334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4</a:t>
            </a:r>
            <a:endParaRPr lang="en-US" sz="1000" dirty="0"/>
          </a:p>
        </p:txBody>
      </p:sp>
      <p:sp>
        <p:nvSpPr>
          <p:cNvPr id="37" name="Weight T3-T2"/>
          <p:cNvSpPr txBox="1"/>
          <p:nvPr/>
        </p:nvSpPr>
        <p:spPr>
          <a:xfrm>
            <a:off x="4347972" y="367665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2</a:t>
            </a:r>
            <a:endParaRPr lang="en-US" sz="1000" dirty="0"/>
          </a:p>
        </p:txBody>
      </p:sp>
      <p:sp>
        <p:nvSpPr>
          <p:cNvPr id="38" name="Weight T5-OV"/>
          <p:cNvSpPr txBox="1"/>
          <p:nvPr/>
        </p:nvSpPr>
        <p:spPr>
          <a:xfrm>
            <a:off x="2961132" y="3916680"/>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3</a:t>
            </a:r>
            <a:endParaRPr lang="en-US" sz="1000" dirty="0"/>
          </a:p>
        </p:txBody>
      </p:sp>
      <p:sp>
        <p:nvSpPr>
          <p:cNvPr id="39" name="Weight OV-SP"/>
          <p:cNvSpPr txBox="1"/>
          <p:nvPr/>
        </p:nvSpPr>
        <p:spPr>
          <a:xfrm>
            <a:off x="1814322" y="4223385"/>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5</a:t>
            </a:r>
            <a:endParaRPr lang="en-US" sz="1000" dirty="0"/>
          </a:p>
        </p:txBody>
      </p:sp>
      <p:sp>
        <p:nvSpPr>
          <p:cNvPr id="40" name="Weight LB-SP"/>
          <p:cNvSpPr txBox="1"/>
          <p:nvPr/>
        </p:nvSpPr>
        <p:spPr>
          <a:xfrm>
            <a:off x="1334262" y="3903345"/>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6</a:t>
            </a:r>
            <a:endParaRPr lang="en-US" sz="1000" dirty="0"/>
          </a:p>
        </p:txBody>
      </p:sp>
      <p:sp>
        <p:nvSpPr>
          <p:cNvPr id="41" name="Weight BE-SP"/>
          <p:cNvSpPr txBox="1"/>
          <p:nvPr/>
        </p:nvSpPr>
        <p:spPr>
          <a:xfrm>
            <a:off x="907542" y="3823335"/>
            <a:ext cx="219456" cy="182880"/>
          </a:xfrm>
          <a:prstGeom prst="rect">
            <a:avLst/>
          </a:prstGeom>
          <a:solidFill>
            <a:schemeClr val="bg2"/>
          </a:solidFill>
          <a:ln/>
        </p:spPr>
        <p:txBody>
          <a:bodyPr wrap="square" lIns="0" tIns="0" rIns="0" bIns="0" rtlCol="0" anchor="ctr"/>
          <a:lstStyle/>
          <a:p>
            <a:pPr algn="ctr" indent="0" marL="0">
              <a:buNone/>
            </a:pPr>
            <a:r>
              <a:rPr lang="en-US" sz="1000" dirty="0">
                <a:solidFill>
                  <a:schemeClr val="tx2"/>
                </a:solidFill>
              </a:rPr>
              <a:t>5</a:t>
            </a:r>
            <a:endParaRPr lang="en-US" sz="1000" dirty="0"/>
          </a:p>
        </p:txBody>
      </p:sp>
      <p:sp>
        <p:nvSpPr>
          <p:cNvPr id="42" name="Stop MG"/>
          <p:cNvSpPr/>
          <p:nvPr/>
        </p:nvSpPr>
        <p:spPr>
          <a:xfrm>
            <a:off x="914400" y="1371600"/>
            <a:ext cx="365760" cy="365760"/>
          </a:xfrm>
          <a:prstGeom prst="ellipse">
            <a:avLst/>
          </a:prstGeom>
          <a:solidFill>
            <a:schemeClr val="accent2"/>
          </a:solidFill>
          <a:ln w="19050">
            <a:solidFill>
              <a:schemeClr val="accent2"/>
            </a:solidFill>
            <a:prstDash val="solid"/>
          </a:ln>
        </p:spPr>
      </p:sp>
      <p:sp>
        <p:nvSpPr>
          <p:cNvPr id="43" name="Stop code MG"/>
          <p:cNvSpPr txBox="1"/>
          <p:nvPr/>
        </p:nvSpPr>
        <p:spPr>
          <a:xfrm>
            <a:off x="914400" y="1371600"/>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MG</a:t>
            </a:r>
            <a:endParaRPr lang="en-US" sz="1000" dirty="0"/>
          </a:p>
        </p:txBody>
      </p:sp>
      <p:sp>
        <p:nvSpPr>
          <p:cNvPr id="44" name="Stop name MG"/>
          <p:cNvSpPr txBox="1"/>
          <p:nvPr/>
        </p:nvSpPr>
        <p:spPr>
          <a:xfrm>
            <a:off x="1316736" y="1463040"/>
            <a:ext cx="1005840" cy="182880"/>
          </a:xfrm>
          <a:prstGeom prst="rect">
            <a:avLst/>
          </a:prstGeom>
          <a:noFill/>
          <a:ln/>
        </p:spPr>
        <p:txBody>
          <a:bodyPr wrap="square" lIns="0" tIns="0" rIns="0" bIns="0" rtlCol="0" anchor="ctr"/>
          <a:lstStyle/>
          <a:p>
            <a:pPr algn="l" indent="0" marL="0">
              <a:buNone/>
            </a:pPr>
            <a:r>
              <a:rPr lang="en-US" sz="1000" dirty="0">
                <a:solidFill>
                  <a:schemeClr val="tx1"/>
                </a:solidFill>
              </a:rPr>
              <a:t>Main Gate</a:t>
            </a:r>
            <a:endParaRPr lang="en-US" sz="1000" dirty="0"/>
          </a:p>
        </p:txBody>
      </p:sp>
      <p:sp>
        <p:nvSpPr>
          <p:cNvPr id="45" name="Stop AI"/>
          <p:cNvSpPr/>
          <p:nvPr/>
        </p:nvSpPr>
        <p:spPr>
          <a:xfrm>
            <a:off x="1074420" y="2065020"/>
            <a:ext cx="365760" cy="365760"/>
          </a:xfrm>
          <a:prstGeom prst="ellipse">
            <a:avLst/>
          </a:prstGeom>
          <a:solidFill>
            <a:srgbClr val="D3EEEC"/>
          </a:solidFill>
          <a:ln w="19050">
            <a:solidFill>
              <a:schemeClr val="accent2"/>
            </a:solidFill>
            <a:prstDash val="solid"/>
          </a:ln>
        </p:spPr>
      </p:sp>
      <p:sp>
        <p:nvSpPr>
          <p:cNvPr id="46" name="Stop code AI"/>
          <p:cNvSpPr txBox="1"/>
          <p:nvPr/>
        </p:nvSpPr>
        <p:spPr>
          <a:xfrm>
            <a:off x="1074420" y="206502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AI</a:t>
            </a:r>
            <a:endParaRPr lang="en-US" sz="1000" dirty="0"/>
          </a:p>
        </p:txBody>
      </p:sp>
      <p:sp>
        <p:nvSpPr>
          <p:cNvPr id="47" name="Stop name AI"/>
          <p:cNvSpPr txBox="1"/>
          <p:nvPr/>
        </p:nvSpPr>
        <p:spPr>
          <a:xfrm>
            <a:off x="1476756" y="2156460"/>
            <a:ext cx="1005840" cy="182880"/>
          </a:xfrm>
          <a:prstGeom prst="rect">
            <a:avLst/>
          </a:prstGeom>
          <a:noFill/>
          <a:ln/>
        </p:spPr>
        <p:txBody>
          <a:bodyPr wrap="square" lIns="0" tIns="0" rIns="0" bIns="0" rtlCol="0" anchor="ctr"/>
          <a:lstStyle/>
          <a:p>
            <a:pPr algn="l" indent="0" marL="0">
              <a:buNone/>
            </a:pPr>
            <a:r>
              <a:rPr lang="en-US" sz="1000" dirty="0">
                <a:solidFill>
                  <a:schemeClr val="tx1"/>
                </a:solidFill>
              </a:rPr>
              <a:t>AI Research</a:t>
            </a:r>
            <a:endParaRPr lang="en-US" sz="1000" dirty="0"/>
          </a:p>
        </p:txBody>
      </p:sp>
      <p:sp>
        <p:nvSpPr>
          <p:cNvPr id="48" name="Stop AR"/>
          <p:cNvSpPr/>
          <p:nvPr/>
        </p:nvSpPr>
        <p:spPr>
          <a:xfrm>
            <a:off x="2407920" y="1958340"/>
            <a:ext cx="365760" cy="365760"/>
          </a:xfrm>
          <a:prstGeom prst="ellipse">
            <a:avLst/>
          </a:prstGeom>
          <a:solidFill>
            <a:schemeClr val="bg1"/>
          </a:solidFill>
          <a:ln w="19050">
            <a:solidFill>
              <a:schemeClr val="tx2"/>
            </a:solidFill>
            <a:prstDash val="solid"/>
          </a:ln>
        </p:spPr>
      </p:sp>
      <p:sp>
        <p:nvSpPr>
          <p:cNvPr id="49" name="Stop code AR"/>
          <p:cNvSpPr txBox="1"/>
          <p:nvPr/>
        </p:nvSpPr>
        <p:spPr>
          <a:xfrm>
            <a:off x="2407920" y="195834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AR</a:t>
            </a:r>
            <a:endParaRPr lang="en-US" sz="1000" dirty="0"/>
          </a:p>
        </p:txBody>
      </p:sp>
      <p:sp>
        <p:nvSpPr>
          <p:cNvPr id="50" name="Stop name AR"/>
          <p:cNvSpPr txBox="1"/>
          <p:nvPr/>
        </p:nvSpPr>
        <p:spPr>
          <a:xfrm>
            <a:off x="2087880" y="1757172"/>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Architecture</a:t>
            </a:r>
            <a:endParaRPr lang="en-US" sz="1000" dirty="0"/>
          </a:p>
        </p:txBody>
      </p:sp>
      <p:sp>
        <p:nvSpPr>
          <p:cNvPr id="51" name="Stop AB"/>
          <p:cNvSpPr/>
          <p:nvPr/>
        </p:nvSpPr>
        <p:spPr>
          <a:xfrm>
            <a:off x="1341120" y="2705100"/>
            <a:ext cx="365760" cy="365760"/>
          </a:xfrm>
          <a:prstGeom prst="ellipse">
            <a:avLst/>
          </a:prstGeom>
          <a:solidFill>
            <a:srgbClr val="D3EEEC"/>
          </a:solidFill>
          <a:ln w="19050">
            <a:solidFill>
              <a:schemeClr val="accent2"/>
            </a:solidFill>
            <a:prstDash val="solid"/>
          </a:ln>
        </p:spPr>
      </p:sp>
      <p:sp>
        <p:nvSpPr>
          <p:cNvPr id="52" name="Stop code AB"/>
          <p:cNvSpPr txBox="1"/>
          <p:nvPr/>
        </p:nvSpPr>
        <p:spPr>
          <a:xfrm>
            <a:off x="1341120" y="270510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AB</a:t>
            </a:r>
            <a:endParaRPr lang="en-US" sz="1000" dirty="0"/>
          </a:p>
        </p:txBody>
      </p:sp>
      <p:sp>
        <p:nvSpPr>
          <p:cNvPr id="53" name="Stop name AB"/>
          <p:cNvSpPr txBox="1"/>
          <p:nvPr/>
        </p:nvSpPr>
        <p:spPr>
          <a:xfrm>
            <a:off x="298704" y="2796540"/>
            <a:ext cx="1005840" cy="182880"/>
          </a:xfrm>
          <a:prstGeom prst="rect">
            <a:avLst/>
          </a:prstGeom>
          <a:noFill/>
          <a:ln/>
        </p:spPr>
        <p:txBody>
          <a:bodyPr wrap="square" lIns="0" tIns="0" rIns="0" bIns="0" rtlCol="0" anchor="ctr"/>
          <a:lstStyle/>
          <a:p>
            <a:pPr algn="r" indent="0" marL="0">
              <a:buNone/>
            </a:pPr>
            <a:r>
              <a:rPr lang="en-US" sz="1000" dirty="0">
                <a:solidFill>
                  <a:schemeClr val="tx1"/>
                </a:solidFill>
              </a:rPr>
              <a:t>Admin Block</a:t>
            </a:r>
            <a:endParaRPr lang="en-US" sz="1000" dirty="0"/>
          </a:p>
        </p:txBody>
      </p:sp>
      <p:sp>
        <p:nvSpPr>
          <p:cNvPr id="54" name="Stop LW"/>
          <p:cNvSpPr/>
          <p:nvPr/>
        </p:nvSpPr>
        <p:spPr>
          <a:xfrm>
            <a:off x="2621280" y="2758440"/>
            <a:ext cx="365760" cy="365760"/>
          </a:xfrm>
          <a:prstGeom prst="ellipse">
            <a:avLst/>
          </a:prstGeom>
          <a:solidFill>
            <a:schemeClr val="bg1"/>
          </a:solidFill>
          <a:ln w="19050">
            <a:solidFill>
              <a:schemeClr val="tx2"/>
            </a:solidFill>
            <a:prstDash val="solid"/>
          </a:ln>
        </p:spPr>
      </p:sp>
      <p:sp>
        <p:nvSpPr>
          <p:cNvPr id="55" name="Stop code LW"/>
          <p:cNvSpPr txBox="1"/>
          <p:nvPr/>
        </p:nvSpPr>
        <p:spPr>
          <a:xfrm>
            <a:off x="2621280" y="275844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LW</a:t>
            </a:r>
            <a:endParaRPr lang="en-US" sz="1000" dirty="0"/>
          </a:p>
        </p:txBody>
      </p:sp>
      <p:sp>
        <p:nvSpPr>
          <p:cNvPr id="56" name="Stop name LW"/>
          <p:cNvSpPr txBox="1"/>
          <p:nvPr/>
        </p:nvSpPr>
        <p:spPr>
          <a:xfrm>
            <a:off x="2301240" y="2557272"/>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Law School</a:t>
            </a:r>
            <a:endParaRPr lang="en-US" sz="1000" dirty="0"/>
          </a:p>
        </p:txBody>
      </p:sp>
      <p:sp>
        <p:nvSpPr>
          <p:cNvPr id="57" name="Stop LB"/>
          <p:cNvSpPr/>
          <p:nvPr/>
        </p:nvSpPr>
        <p:spPr>
          <a:xfrm>
            <a:off x="1554480" y="3451860"/>
            <a:ext cx="365760" cy="365760"/>
          </a:xfrm>
          <a:prstGeom prst="ellipse">
            <a:avLst/>
          </a:prstGeom>
          <a:solidFill>
            <a:srgbClr val="D3EEEC"/>
          </a:solidFill>
          <a:ln w="19050">
            <a:solidFill>
              <a:schemeClr val="accent2"/>
            </a:solidFill>
            <a:prstDash val="solid"/>
          </a:ln>
        </p:spPr>
      </p:sp>
      <p:sp>
        <p:nvSpPr>
          <p:cNvPr id="58" name="Stop code LB"/>
          <p:cNvSpPr txBox="1"/>
          <p:nvPr/>
        </p:nvSpPr>
        <p:spPr>
          <a:xfrm>
            <a:off x="1554480" y="345186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LB</a:t>
            </a:r>
            <a:endParaRPr lang="en-US" sz="1000" dirty="0"/>
          </a:p>
        </p:txBody>
      </p:sp>
      <p:sp>
        <p:nvSpPr>
          <p:cNvPr id="59" name="Stop name LB"/>
          <p:cNvSpPr txBox="1"/>
          <p:nvPr/>
        </p:nvSpPr>
        <p:spPr>
          <a:xfrm>
            <a:off x="1234440" y="3835908"/>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Library</a:t>
            </a:r>
            <a:endParaRPr lang="en-US" sz="1000" dirty="0"/>
          </a:p>
        </p:txBody>
      </p:sp>
      <p:sp>
        <p:nvSpPr>
          <p:cNvPr id="60" name="Stop BE"/>
          <p:cNvSpPr/>
          <p:nvPr/>
        </p:nvSpPr>
        <p:spPr>
          <a:xfrm>
            <a:off x="701040" y="3291840"/>
            <a:ext cx="365760" cy="365760"/>
          </a:xfrm>
          <a:prstGeom prst="ellipse">
            <a:avLst/>
          </a:prstGeom>
          <a:solidFill>
            <a:schemeClr val="bg1"/>
          </a:solidFill>
          <a:ln w="19050">
            <a:solidFill>
              <a:schemeClr val="tx2"/>
            </a:solidFill>
            <a:prstDash val="solid"/>
          </a:ln>
        </p:spPr>
      </p:sp>
      <p:sp>
        <p:nvSpPr>
          <p:cNvPr id="61" name="Stop code BE"/>
          <p:cNvSpPr txBox="1"/>
          <p:nvPr/>
        </p:nvSpPr>
        <p:spPr>
          <a:xfrm>
            <a:off x="701040" y="329184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BE</a:t>
            </a:r>
            <a:endParaRPr lang="en-US" sz="1000" dirty="0"/>
          </a:p>
        </p:txBody>
      </p:sp>
      <p:sp>
        <p:nvSpPr>
          <p:cNvPr id="62" name="Stop name BE"/>
          <p:cNvSpPr txBox="1"/>
          <p:nvPr/>
        </p:nvSpPr>
        <p:spPr>
          <a:xfrm>
            <a:off x="381000" y="3090672"/>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Blue Ember</a:t>
            </a:r>
            <a:endParaRPr lang="en-US" sz="1000" dirty="0"/>
          </a:p>
        </p:txBody>
      </p:sp>
      <p:sp>
        <p:nvSpPr>
          <p:cNvPr id="63" name="Stop T5"/>
          <p:cNvSpPr/>
          <p:nvPr/>
        </p:nvSpPr>
        <p:spPr>
          <a:xfrm>
            <a:off x="3261360" y="3558540"/>
            <a:ext cx="365760" cy="365760"/>
          </a:xfrm>
          <a:prstGeom prst="ellipse">
            <a:avLst/>
          </a:prstGeom>
          <a:solidFill>
            <a:schemeClr val="accent1"/>
          </a:solidFill>
          <a:ln w="19050">
            <a:solidFill>
              <a:schemeClr val="accent2"/>
            </a:solidFill>
            <a:prstDash val="solid"/>
          </a:ln>
        </p:spPr>
      </p:sp>
      <p:sp>
        <p:nvSpPr>
          <p:cNvPr id="64" name="Stop code T5"/>
          <p:cNvSpPr txBox="1"/>
          <p:nvPr/>
        </p:nvSpPr>
        <p:spPr>
          <a:xfrm>
            <a:off x="3261360" y="3558540"/>
            <a:ext cx="365760" cy="365760"/>
          </a:xfrm>
          <a:prstGeom prst="rect">
            <a:avLst/>
          </a:prstGeom>
          <a:noFill/>
          <a:ln/>
        </p:spPr>
        <p:txBody>
          <a:bodyPr wrap="square" lIns="0" tIns="0" rIns="0" bIns="0" rtlCol="0" anchor="ctr"/>
          <a:lstStyle/>
          <a:p>
            <a:pPr algn="ctr" indent="0" marL="0">
              <a:buNone/>
            </a:pPr>
            <a:r>
              <a:rPr lang="en-US" sz="1000" b="1" dirty="0">
                <a:solidFill>
                  <a:schemeClr val="bg1"/>
                </a:solidFill>
              </a:rPr>
              <a:t>T5</a:t>
            </a:r>
            <a:endParaRPr lang="en-US" sz="1000" dirty="0"/>
          </a:p>
        </p:txBody>
      </p:sp>
      <p:sp>
        <p:nvSpPr>
          <p:cNvPr id="65" name="Stop name T5"/>
          <p:cNvSpPr txBox="1"/>
          <p:nvPr/>
        </p:nvSpPr>
        <p:spPr>
          <a:xfrm>
            <a:off x="2941320" y="3357372"/>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Tower 5</a:t>
            </a:r>
            <a:endParaRPr lang="en-US" sz="1000" dirty="0"/>
          </a:p>
        </p:txBody>
      </p:sp>
      <p:sp>
        <p:nvSpPr>
          <p:cNvPr id="66" name="Stop T3"/>
          <p:cNvSpPr/>
          <p:nvPr/>
        </p:nvSpPr>
        <p:spPr>
          <a:xfrm>
            <a:off x="4221480" y="3185160"/>
            <a:ext cx="365760" cy="365760"/>
          </a:xfrm>
          <a:prstGeom prst="ellipse">
            <a:avLst/>
          </a:prstGeom>
          <a:solidFill>
            <a:schemeClr val="bg1"/>
          </a:solidFill>
          <a:ln w="19050">
            <a:solidFill>
              <a:schemeClr val="tx2"/>
            </a:solidFill>
            <a:prstDash val="solid"/>
          </a:ln>
        </p:spPr>
      </p:sp>
      <p:sp>
        <p:nvSpPr>
          <p:cNvPr id="67" name="Stop code T3"/>
          <p:cNvSpPr txBox="1"/>
          <p:nvPr/>
        </p:nvSpPr>
        <p:spPr>
          <a:xfrm>
            <a:off x="4221480" y="318516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T3</a:t>
            </a:r>
            <a:endParaRPr lang="en-US" sz="1000" dirty="0"/>
          </a:p>
        </p:txBody>
      </p:sp>
      <p:sp>
        <p:nvSpPr>
          <p:cNvPr id="68" name="Stop name T3"/>
          <p:cNvSpPr txBox="1"/>
          <p:nvPr/>
        </p:nvSpPr>
        <p:spPr>
          <a:xfrm>
            <a:off x="3901440" y="2983992"/>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Tower 3</a:t>
            </a:r>
            <a:endParaRPr lang="en-US" sz="1000" dirty="0"/>
          </a:p>
        </p:txBody>
      </p:sp>
      <p:sp>
        <p:nvSpPr>
          <p:cNvPr id="69" name="Stop T2"/>
          <p:cNvSpPr/>
          <p:nvPr/>
        </p:nvSpPr>
        <p:spPr>
          <a:xfrm>
            <a:off x="4328160" y="3985260"/>
            <a:ext cx="365760" cy="365760"/>
          </a:xfrm>
          <a:prstGeom prst="ellipse">
            <a:avLst/>
          </a:prstGeom>
          <a:solidFill>
            <a:schemeClr val="bg1"/>
          </a:solidFill>
          <a:ln w="19050">
            <a:solidFill>
              <a:schemeClr val="tx2"/>
            </a:solidFill>
            <a:prstDash val="solid"/>
          </a:ln>
        </p:spPr>
      </p:sp>
      <p:sp>
        <p:nvSpPr>
          <p:cNvPr id="70" name="Stop code T2"/>
          <p:cNvSpPr txBox="1"/>
          <p:nvPr/>
        </p:nvSpPr>
        <p:spPr>
          <a:xfrm>
            <a:off x="4328160" y="398526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T2</a:t>
            </a:r>
            <a:endParaRPr lang="en-US" sz="1000" dirty="0"/>
          </a:p>
        </p:txBody>
      </p:sp>
      <p:sp>
        <p:nvSpPr>
          <p:cNvPr id="71" name="Stop name T2"/>
          <p:cNvSpPr txBox="1"/>
          <p:nvPr/>
        </p:nvSpPr>
        <p:spPr>
          <a:xfrm>
            <a:off x="4008120" y="4369308"/>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Tower 2</a:t>
            </a:r>
            <a:endParaRPr lang="en-US" sz="1000" dirty="0"/>
          </a:p>
        </p:txBody>
      </p:sp>
      <p:sp>
        <p:nvSpPr>
          <p:cNvPr id="72" name="Stop OV"/>
          <p:cNvSpPr/>
          <p:nvPr/>
        </p:nvSpPr>
        <p:spPr>
          <a:xfrm>
            <a:off x="2514600" y="4091940"/>
            <a:ext cx="365760" cy="365760"/>
          </a:xfrm>
          <a:prstGeom prst="ellipse">
            <a:avLst/>
          </a:prstGeom>
          <a:solidFill>
            <a:schemeClr val="bg1"/>
          </a:solidFill>
          <a:ln w="19050">
            <a:solidFill>
              <a:schemeClr val="tx2"/>
            </a:solidFill>
            <a:prstDash val="solid"/>
          </a:ln>
        </p:spPr>
      </p:sp>
      <p:sp>
        <p:nvSpPr>
          <p:cNvPr id="73" name="Stop code OV"/>
          <p:cNvSpPr txBox="1"/>
          <p:nvPr/>
        </p:nvSpPr>
        <p:spPr>
          <a:xfrm>
            <a:off x="2514600" y="409194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OV</a:t>
            </a:r>
            <a:endParaRPr lang="en-US" sz="1000" dirty="0"/>
          </a:p>
        </p:txBody>
      </p:sp>
      <p:sp>
        <p:nvSpPr>
          <p:cNvPr id="74" name="Stop name OV"/>
          <p:cNvSpPr txBox="1"/>
          <p:nvPr/>
        </p:nvSpPr>
        <p:spPr>
          <a:xfrm>
            <a:off x="2194560" y="4475988"/>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The Oval</a:t>
            </a:r>
            <a:endParaRPr lang="en-US" sz="1000" dirty="0"/>
          </a:p>
        </p:txBody>
      </p:sp>
      <p:sp>
        <p:nvSpPr>
          <p:cNvPr id="75" name="Stop SP"/>
          <p:cNvSpPr/>
          <p:nvPr/>
        </p:nvSpPr>
        <p:spPr>
          <a:xfrm>
            <a:off x="967740" y="4171950"/>
            <a:ext cx="365760" cy="365760"/>
          </a:xfrm>
          <a:prstGeom prst="ellipse">
            <a:avLst/>
          </a:prstGeom>
          <a:solidFill>
            <a:schemeClr val="bg1"/>
          </a:solidFill>
          <a:ln w="19050">
            <a:solidFill>
              <a:schemeClr val="tx2"/>
            </a:solidFill>
            <a:prstDash val="solid"/>
          </a:ln>
        </p:spPr>
      </p:sp>
      <p:sp>
        <p:nvSpPr>
          <p:cNvPr id="76" name="Stop code SP"/>
          <p:cNvSpPr txBox="1"/>
          <p:nvPr/>
        </p:nvSpPr>
        <p:spPr>
          <a:xfrm>
            <a:off x="967740" y="4171950"/>
            <a:ext cx="365760" cy="365760"/>
          </a:xfrm>
          <a:prstGeom prst="rect">
            <a:avLst/>
          </a:prstGeom>
          <a:noFill/>
          <a:ln/>
        </p:spPr>
        <p:txBody>
          <a:bodyPr wrap="square" lIns="0" tIns="0" rIns="0" bIns="0" rtlCol="0" anchor="ctr"/>
          <a:lstStyle/>
          <a:p>
            <a:pPr algn="ctr" indent="0" marL="0">
              <a:buNone/>
            </a:pPr>
            <a:r>
              <a:rPr lang="en-US" sz="1000" b="1" dirty="0">
                <a:solidFill>
                  <a:schemeClr val="tx1"/>
                </a:solidFill>
              </a:rPr>
              <a:t>SP</a:t>
            </a:r>
            <a:endParaRPr lang="en-US" sz="1000" dirty="0"/>
          </a:p>
        </p:txBody>
      </p:sp>
      <p:sp>
        <p:nvSpPr>
          <p:cNvPr id="77" name="Stop name SP"/>
          <p:cNvSpPr txBox="1"/>
          <p:nvPr/>
        </p:nvSpPr>
        <p:spPr>
          <a:xfrm>
            <a:off x="647700" y="4555998"/>
            <a:ext cx="1005840" cy="182880"/>
          </a:xfrm>
          <a:prstGeom prst="rect">
            <a:avLst/>
          </a:prstGeom>
          <a:noFill/>
          <a:ln/>
        </p:spPr>
        <p:txBody>
          <a:bodyPr wrap="square" lIns="0" tIns="0" rIns="0" bIns="0" rtlCol="0" anchor="ctr"/>
          <a:lstStyle/>
          <a:p>
            <a:pPr algn="ctr" indent="0" marL="0">
              <a:buNone/>
            </a:pPr>
            <a:r>
              <a:rPr lang="en-US" sz="1000" dirty="0">
                <a:solidFill>
                  <a:schemeClr val="tx1"/>
                </a:solidFill>
              </a:rPr>
              <a:t>Sports Complex</a:t>
            </a:r>
            <a:endParaRPr lang="en-US" sz="1000" dirty="0"/>
          </a:p>
        </p:txBody>
      </p:sp>
      <p:sp>
        <p:nvSpPr>
          <p:cNvPr id="78" name="Model term 1"/>
          <p:cNvSpPr txBox="1"/>
          <p:nvPr/>
        </p:nvSpPr>
        <p:spPr>
          <a:xfrm>
            <a:off x="5989320" y="1188720"/>
            <a:ext cx="2651760" cy="256032"/>
          </a:xfrm>
          <a:prstGeom prst="rect">
            <a:avLst/>
          </a:prstGeom>
          <a:noFill/>
          <a:ln/>
        </p:spPr>
        <p:txBody>
          <a:bodyPr wrap="square" lIns="0" tIns="0" rIns="0" bIns="0" rtlCol="0" anchor="t"/>
          <a:lstStyle/>
          <a:p>
            <a:pPr indent="0" marL="0">
              <a:buNone/>
            </a:pPr>
            <a:r>
              <a:rPr lang="en-US" sz="1600" b="1" dirty="0">
                <a:solidFill>
                  <a:schemeClr val="accent1"/>
                </a:solidFill>
              </a:rPr>
              <a:t>Stops</a:t>
            </a:r>
            <a:endParaRPr lang="en-US" sz="1600" dirty="0"/>
          </a:p>
        </p:txBody>
      </p:sp>
      <p:sp>
        <p:nvSpPr>
          <p:cNvPr id="79" name="Model text 1"/>
          <p:cNvSpPr txBox="1"/>
          <p:nvPr/>
        </p:nvSpPr>
        <p:spPr>
          <a:xfrm>
            <a:off x="5989320" y="1463040"/>
            <a:ext cx="2651760" cy="548640"/>
          </a:xfrm>
          <a:prstGeom prst="rect">
            <a:avLst/>
          </a:prstGeom>
          <a:noFill/>
          <a:ln/>
        </p:spPr>
        <p:txBody>
          <a:bodyPr wrap="square" lIns="0" tIns="0" rIns="0" bIns="0" rtlCol="0" anchor="t"/>
          <a:lstStyle/>
          <a:p>
            <a:pPr indent="0" marL="0">
              <a:buNone/>
            </a:pPr>
            <a:r>
              <a:rPr lang="en-US" sz="1400" dirty="0">
                <a:solidFill>
                  <a:schemeClr val="tx1"/>
                </a:solidFill>
              </a:rPr>
              <a:t>are vertices: 12 Woxsen locations</a:t>
            </a:r>
            <a:endParaRPr lang="en-US" sz="1400" dirty="0"/>
          </a:p>
        </p:txBody>
      </p:sp>
      <p:sp>
        <p:nvSpPr>
          <p:cNvPr id="80" name="Model term 2"/>
          <p:cNvSpPr txBox="1"/>
          <p:nvPr/>
        </p:nvSpPr>
        <p:spPr>
          <a:xfrm>
            <a:off x="5989320" y="2057400"/>
            <a:ext cx="2651760" cy="256032"/>
          </a:xfrm>
          <a:prstGeom prst="rect">
            <a:avLst/>
          </a:prstGeom>
          <a:noFill/>
          <a:ln/>
        </p:spPr>
        <p:txBody>
          <a:bodyPr wrap="square" lIns="0" tIns="0" rIns="0" bIns="0" rtlCol="0" anchor="t"/>
          <a:lstStyle/>
          <a:p>
            <a:pPr indent="0" marL="0">
              <a:buNone/>
            </a:pPr>
            <a:r>
              <a:rPr lang="en-US" sz="1600" b="1" dirty="0">
                <a:solidFill>
                  <a:schemeClr val="accent1"/>
                </a:solidFill>
              </a:rPr>
              <a:t>Roads</a:t>
            </a:r>
            <a:endParaRPr lang="en-US" sz="1600" dirty="0"/>
          </a:p>
        </p:txBody>
      </p:sp>
      <p:sp>
        <p:nvSpPr>
          <p:cNvPr id="81" name="Model text 2"/>
          <p:cNvSpPr txBox="1"/>
          <p:nvPr/>
        </p:nvSpPr>
        <p:spPr>
          <a:xfrm>
            <a:off x="5989320" y="2331720"/>
            <a:ext cx="2651760" cy="548640"/>
          </a:xfrm>
          <a:prstGeom prst="rect">
            <a:avLst/>
          </a:prstGeom>
          <a:noFill/>
          <a:ln/>
        </p:spPr>
        <p:txBody>
          <a:bodyPr wrap="square" lIns="0" tIns="0" rIns="0" bIns="0" rtlCol="0" anchor="t"/>
          <a:lstStyle/>
          <a:p>
            <a:pPr indent="0" marL="0">
              <a:buNone/>
            </a:pPr>
            <a:r>
              <a:rPr lang="en-US" sz="1400" dirty="0">
                <a:solidFill>
                  <a:schemeClr val="tx1"/>
                </a:solidFill>
              </a:rPr>
              <a:t>are edges, weighted by minutes</a:t>
            </a:r>
            <a:endParaRPr lang="en-US" sz="1400" dirty="0"/>
          </a:p>
        </p:txBody>
      </p:sp>
      <p:sp>
        <p:nvSpPr>
          <p:cNvPr id="82" name="Model term 3"/>
          <p:cNvSpPr txBox="1"/>
          <p:nvPr/>
        </p:nvSpPr>
        <p:spPr>
          <a:xfrm>
            <a:off x="5989320" y="2926080"/>
            <a:ext cx="2651760" cy="256032"/>
          </a:xfrm>
          <a:prstGeom prst="rect">
            <a:avLst/>
          </a:prstGeom>
          <a:noFill/>
          <a:ln/>
        </p:spPr>
        <p:txBody>
          <a:bodyPr wrap="square" lIns="0" tIns="0" rIns="0" bIns="0" rtlCol="0" anchor="t"/>
          <a:lstStyle/>
          <a:p>
            <a:pPr indent="0" marL="0">
              <a:buNone/>
            </a:pPr>
            <a:r>
              <a:rPr lang="en-US" sz="1600" b="1" dirty="0">
                <a:solidFill>
                  <a:schemeClr val="accent1"/>
                </a:solidFill>
              </a:rPr>
              <a:t>Demand and capacity</a:t>
            </a:r>
            <a:endParaRPr lang="en-US" sz="1600" dirty="0"/>
          </a:p>
        </p:txBody>
      </p:sp>
      <p:sp>
        <p:nvSpPr>
          <p:cNvPr id="83" name="Model text 3"/>
          <p:cNvSpPr txBox="1"/>
          <p:nvPr/>
        </p:nvSpPr>
        <p:spPr>
          <a:xfrm>
            <a:off x="5989320" y="3200400"/>
            <a:ext cx="2651760" cy="548640"/>
          </a:xfrm>
          <a:prstGeom prst="rect">
            <a:avLst/>
          </a:prstGeom>
          <a:noFill/>
          <a:ln/>
        </p:spPr>
        <p:txBody>
          <a:bodyPr wrap="square" lIns="0" tIns="0" rIns="0" bIns="0" rtlCol="0" anchor="t"/>
          <a:lstStyle/>
          <a:p>
            <a:pPr indent="0" marL="0">
              <a:buNone/>
            </a:pPr>
            <a:r>
              <a:rPr lang="en-US" sz="1400" dirty="0">
                <a:solidFill>
                  <a:schemeClr val="tx1"/>
                </a:solidFill>
              </a:rPr>
              <a:t>stops hold waiting passengers, shuttles hold 40 seats</a:t>
            </a:r>
            <a:endParaRPr lang="en-US" sz="1400" dirty="0"/>
          </a:p>
        </p:txBody>
      </p:sp>
      <p:sp>
        <p:nvSpPr>
          <p:cNvPr id="84" name="Model term 4"/>
          <p:cNvSpPr txBox="1"/>
          <p:nvPr/>
        </p:nvSpPr>
        <p:spPr>
          <a:xfrm>
            <a:off x="5989320" y="3794760"/>
            <a:ext cx="2651760" cy="256032"/>
          </a:xfrm>
          <a:prstGeom prst="rect">
            <a:avLst/>
          </a:prstGeom>
          <a:noFill/>
          <a:ln/>
        </p:spPr>
        <p:txBody>
          <a:bodyPr wrap="square" lIns="0" tIns="0" rIns="0" bIns="0" rtlCol="0" anchor="t"/>
          <a:lstStyle/>
          <a:p>
            <a:pPr indent="0" marL="0">
              <a:buNone/>
            </a:pPr>
            <a:r>
              <a:rPr lang="en-US" sz="1600" b="1" dirty="0">
                <a:solidFill>
                  <a:schemeClr val="accent1"/>
                </a:solidFill>
              </a:rPr>
              <a:t>Trips</a:t>
            </a:r>
            <a:endParaRPr lang="en-US" sz="1600" dirty="0"/>
          </a:p>
        </p:txBody>
      </p:sp>
      <p:sp>
        <p:nvSpPr>
          <p:cNvPr id="85" name="Model text 4"/>
          <p:cNvSpPr txBox="1"/>
          <p:nvPr/>
        </p:nvSpPr>
        <p:spPr>
          <a:xfrm>
            <a:off x="5989320" y="4069080"/>
            <a:ext cx="2651760" cy="548640"/>
          </a:xfrm>
          <a:prstGeom prst="rect">
            <a:avLst/>
          </a:prstGeom>
          <a:noFill/>
          <a:ln/>
        </p:spPr>
        <p:txBody>
          <a:bodyPr wrap="square" lIns="0" tIns="0" rIns="0" bIns="0" rtlCol="0" anchor="t"/>
          <a:lstStyle/>
          <a:p>
            <a:pPr indent="0" marL="0">
              <a:buNone/>
            </a:pPr>
            <a:r>
              <a:rPr lang="en-US" sz="1400" dirty="0">
                <a:solidFill>
                  <a:schemeClr val="tx1"/>
                </a:solidFill>
              </a:rPr>
              <a:t>have fixed start and end times</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Six algorithms, six jobs</a:t>
            </a:r>
            <a:endParaRPr lang="en-US" sz="3200" dirty="0"/>
          </a:p>
        </p:txBody>
      </p:sp>
      <p:graphicFrame>
        <p:nvGraphicFramePr>
          <p:cNvPr id="5" name="Algorithm 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103120"/>
                <a:gridCol w="2011680"/>
                <a:gridCol w="2834640"/>
                <a:gridCol w="1097280"/>
              </a:tblGrid>
              <a:tr h="420624">
                <a:tc>
                  <a:txBody>
                    <a:bodyPr/>
                    <a:lstStyle/>
                    <a:p>
                      <a:pPr algn="l" indent="0" marL="0">
                        <a:buNone/>
                      </a:pPr>
                      <a:r>
                        <a:rPr lang="en-US" sz="1400" b="1" dirty="0">
                          <a:solidFill>
                            <a:schemeClr val="bg1"/>
                          </a:solidFill>
                        </a:rPr>
                        <a:t>Algorithm</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Category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Job in the project</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Time</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r>
              <a:tr h="420624">
                <a:tc>
                  <a:txBody>
                    <a:bodyPr/>
                    <a:lstStyle/>
                    <a:p>
                      <a:pPr algn="l" indent="0" marL="0">
                        <a:buNone/>
                      </a:pPr>
                      <a:r>
                        <a:rPr lang="en-US" sz="1400" b="1" dirty="0">
                          <a:solidFill>
                            <a:schemeClr val="tx1"/>
                          </a:solidFill>
                        </a:rPr>
                        <a:t>Dijkstra</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Graph</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Shortest route for a passenger</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O(V²)</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Floyd–Warshall</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Dynamic programming</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All-pairs travel times</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O(V³)</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Kruskal</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Graph and greedy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Minimum connected network</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O(E log E)</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Activity Selection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Greedy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Most non-overlapping trips</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O(n log 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r h="420624">
                <a:tc>
                  <a:txBody>
                    <a:bodyPr/>
                    <a:lstStyle/>
                    <a:p>
                      <a:pPr algn="l" indent="0" marL="0">
                        <a:buNone/>
                      </a:pPr>
                      <a:r>
                        <a:rPr lang="en-US" sz="1400" b="1" dirty="0">
                          <a:solidFill>
                            <a:schemeClr val="tx1"/>
                          </a:solidFill>
                        </a:rPr>
                        <a:t>Fractional Knapsack</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Greedy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Seat split with partial groups</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O(n log 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r>
              <a:tr h="420624">
                <a:tc>
                  <a:txBody>
                    <a:bodyPr/>
                    <a:lstStyle/>
                    <a:p>
                      <a:pPr algn="l" indent="0" marL="0">
                        <a:buNone/>
                      </a:pPr>
                      <a:r>
                        <a:rPr lang="en-US" sz="1400" b="1" dirty="0">
                          <a:solidFill>
                            <a:schemeClr val="tx1"/>
                          </a:solidFill>
                        </a:rPr>
                        <a:t>0/1 Knapsack</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Dynamic programming</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Whole groups within capacity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O(nW)</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bl>
          </a:graphicData>
        </a:graphic>
      </p:graphicFrame>
      <p:sp>
        <p:nvSpPr>
          <p:cNvPr id="4" name="Table caption"/>
          <p:cNvSpPr txBox="1"/>
          <p:nvPr/>
        </p:nvSpPr>
        <p:spPr>
          <a:xfrm>
            <a:off x="548640" y="4389120"/>
            <a:ext cx="8046720" cy="274320"/>
          </a:xfrm>
          <a:prstGeom prst="rect">
            <a:avLst/>
          </a:prstGeom>
          <a:noFill/>
          <a:ln/>
        </p:spPr>
        <p:txBody>
          <a:bodyPr wrap="square" lIns="0" tIns="0" rIns="0" bIns="0" rtlCol="0" anchor="t"/>
          <a:lstStyle/>
          <a:p>
            <a:pPr indent="0" marL="0">
              <a:buNone/>
            </a:pPr>
            <a:r>
              <a:rPr lang="en-US" sz="1400" dirty="0">
                <a:solidFill>
                  <a:schemeClr val="tx2"/>
                </a:solidFill>
              </a:rPr>
              <a:t>Each routing, scheduling or capacity question uses the one algorithm that fits it.</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How the system is built</a:t>
            </a:r>
            <a:endParaRPr lang="en-US" sz="3200" dirty="0"/>
          </a:p>
        </p:txBody>
      </p:sp>
      <p:sp>
        <p:nvSpPr>
          <p:cNvPr id="3" name="Layer card 1"/>
          <p:cNvSpPr/>
          <p:nvPr/>
        </p:nvSpPr>
        <p:spPr>
          <a:xfrm>
            <a:off x="548640" y="1280160"/>
            <a:ext cx="2468880" cy="1691640"/>
          </a:xfrm>
          <a:prstGeom prst="roundRect">
            <a:avLst>
              <a:gd name="adj" fmla="val 4324"/>
            </a:avLst>
          </a:prstGeom>
          <a:solidFill>
            <a:schemeClr val="bg2"/>
          </a:solidFill>
          <a:ln/>
        </p:spPr>
      </p:sp>
      <p:sp>
        <p:nvSpPr>
          <p:cNvPr id="4" name="Layer icon 1"/>
          <p:cNvSpPr/>
          <p:nvPr/>
        </p:nvSpPr>
        <p:spPr>
          <a:xfrm>
            <a:off x="731520" y="1444752"/>
            <a:ext cx="502920" cy="502920"/>
          </a:xfrm>
          <a:prstGeom prst="ellipse">
            <a:avLst/>
          </a:prstGeom>
          <a:solidFill>
            <a:srgbClr val="0A7C78"/>
          </a:solidFill>
          <a:ln/>
        </p:spPr>
      </p:sp>
      <p:pic>
        <p:nvPicPr>
          <p:cNvPr id="5" name="Image 0" descr="Layer icon 1">    </p:cNvPr>
          <p:cNvPicPr>
            <a:picLocks noChangeAspect="1"/>
          </p:cNvPicPr>
          <p:nvPr/>
        </p:nvPicPr>
        <p:blipFill>
          <a:blip r:embed="rId1"/>
          <a:stretch>
            <a:fillRect/>
          </a:stretch>
        </p:blipFill>
        <p:spPr>
          <a:xfrm>
            <a:off x="857250" y="1570482"/>
            <a:ext cx="251460" cy="251460"/>
          </a:xfrm>
          <a:prstGeom prst="rect">
            <a:avLst/>
          </a:prstGeom>
        </p:spPr>
      </p:pic>
      <p:sp>
        <p:nvSpPr>
          <p:cNvPr id="6" name="Layer title 1"/>
          <p:cNvSpPr txBox="1"/>
          <p:nvPr/>
        </p:nvSpPr>
        <p:spPr>
          <a:xfrm>
            <a:off x="731520" y="2057400"/>
            <a:ext cx="2103120" cy="274320"/>
          </a:xfrm>
          <a:prstGeom prst="rect">
            <a:avLst/>
          </a:prstGeom>
          <a:noFill/>
          <a:ln/>
        </p:spPr>
        <p:txBody>
          <a:bodyPr wrap="square" lIns="0" tIns="0" rIns="0" bIns="0" rtlCol="0" anchor="t"/>
          <a:lstStyle/>
          <a:p>
            <a:pPr indent="0" marL="0">
              <a:buNone/>
            </a:pPr>
            <a:r>
              <a:rPr lang="en-US" sz="1600" b="1" dirty="0">
                <a:solidFill>
                  <a:schemeClr val="tx1"/>
                </a:solidFill>
              </a:rPr>
              <a:t>Interface layer</a:t>
            </a:r>
            <a:endParaRPr lang="en-US" sz="1600" dirty="0"/>
          </a:p>
        </p:txBody>
      </p:sp>
      <p:sp>
        <p:nvSpPr>
          <p:cNvPr id="7" name="Layer text 1"/>
          <p:cNvSpPr txBox="1"/>
          <p:nvPr/>
        </p:nvSpPr>
        <p:spPr>
          <a:xfrm>
            <a:off x="731520" y="2359152"/>
            <a:ext cx="2148840" cy="548640"/>
          </a:xfrm>
          <a:prstGeom prst="rect">
            <a:avLst/>
          </a:prstGeom>
          <a:noFill/>
          <a:ln/>
        </p:spPr>
        <p:txBody>
          <a:bodyPr wrap="square" lIns="0" tIns="0" rIns="0" bIns="0" rtlCol="0" anchor="t"/>
          <a:lstStyle/>
          <a:p>
            <a:pPr indent="0" marL="0">
              <a:buNone/>
            </a:pPr>
            <a:r>
              <a:rPr lang="en-US" sz="1200" dirty="0">
                <a:solidFill>
                  <a:schemeClr val="tx2"/>
                </a:solidFill>
              </a:rPr>
              <a:t>Login, passenger and admin dashboards, map, simulation</a:t>
            </a:r>
            <a:endParaRPr lang="en-US" sz="1200" dirty="0"/>
          </a:p>
        </p:txBody>
      </p:sp>
      <p:sp>
        <p:nvSpPr>
          <p:cNvPr id="8" name="Layer arrow 1"/>
          <p:cNvSpPr/>
          <p:nvPr/>
        </p:nvSpPr>
        <p:spPr>
          <a:xfrm>
            <a:off x="3054096" y="2011680"/>
            <a:ext cx="256032" cy="256032"/>
          </a:xfrm>
          <a:prstGeom prst="rightArrow">
            <a:avLst/>
          </a:prstGeom>
          <a:solidFill>
            <a:schemeClr val="accent1"/>
          </a:solidFill>
          <a:ln/>
        </p:spPr>
      </p:sp>
      <p:sp>
        <p:nvSpPr>
          <p:cNvPr id="9" name="Layer card 2"/>
          <p:cNvSpPr/>
          <p:nvPr/>
        </p:nvSpPr>
        <p:spPr>
          <a:xfrm>
            <a:off x="3337560" y="1280160"/>
            <a:ext cx="2468880" cy="1691640"/>
          </a:xfrm>
          <a:prstGeom prst="roundRect">
            <a:avLst>
              <a:gd name="adj" fmla="val 4324"/>
            </a:avLst>
          </a:prstGeom>
          <a:solidFill>
            <a:schemeClr val="bg2"/>
          </a:solidFill>
          <a:ln/>
        </p:spPr>
      </p:sp>
      <p:sp>
        <p:nvSpPr>
          <p:cNvPr id="10" name="Layer icon 2"/>
          <p:cNvSpPr/>
          <p:nvPr/>
        </p:nvSpPr>
        <p:spPr>
          <a:xfrm>
            <a:off x="3520440" y="1444752"/>
            <a:ext cx="502920" cy="502920"/>
          </a:xfrm>
          <a:prstGeom prst="ellipse">
            <a:avLst/>
          </a:prstGeom>
          <a:solidFill>
            <a:srgbClr val="0A7C78"/>
          </a:solidFill>
          <a:ln/>
        </p:spPr>
      </p:sp>
      <p:pic>
        <p:nvPicPr>
          <p:cNvPr id="11" name="Image 1" descr="Layer icon 2">    </p:cNvPr>
          <p:cNvPicPr>
            <a:picLocks noChangeAspect="1"/>
          </p:cNvPicPr>
          <p:nvPr/>
        </p:nvPicPr>
        <p:blipFill>
          <a:blip r:embed="rId2"/>
          <a:stretch>
            <a:fillRect/>
          </a:stretch>
        </p:blipFill>
        <p:spPr>
          <a:xfrm>
            <a:off x="3646170" y="1570482"/>
            <a:ext cx="251460" cy="251460"/>
          </a:xfrm>
          <a:prstGeom prst="rect">
            <a:avLst/>
          </a:prstGeom>
        </p:spPr>
      </p:pic>
      <p:sp>
        <p:nvSpPr>
          <p:cNvPr id="12" name="Layer title 2"/>
          <p:cNvSpPr txBox="1"/>
          <p:nvPr/>
        </p:nvSpPr>
        <p:spPr>
          <a:xfrm>
            <a:off x="3520440" y="2057400"/>
            <a:ext cx="2103120" cy="274320"/>
          </a:xfrm>
          <a:prstGeom prst="rect">
            <a:avLst/>
          </a:prstGeom>
          <a:noFill/>
          <a:ln/>
        </p:spPr>
        <p:txBody>
          <a:bodyPr wrap="square" lIns="0" tIns="0" rIns="0" bIns="0" rtlCol="0" anchor="t"/>
          <a:lstStyle/>
          <a:p>
            <a:pPr indent="0" marL="0">
              <a:buNone/>
            </a:pPr>
            <a:r>
              <a:rPr lang="en-US" sz="1600" b="1" dirty="0">
                <a:solidFill>
                  <a:schemeClr val="tx1"/>
                </a:solidFill>
              </a:rPr>
              <a:t>Algorithm layer</a:t>
            </a:r>
            <a:endParaRPr lang="en-US" sz="1600" dirty="0"/>
          </a:p>
        </p:txBody>
      </p:sp>
      <p:sp>
        <p:nvSpPr>
          <p:cNvPr id="13" name="Layer text 2"/>
          <p:cNvSpPr txBox="1"/>
          <p:nvPr/>
        </p:nvSpPr>
        <p:spPr>
          <a:xfrm>
            <a:off x="3520440" y="2359152"/>
            <a:ext cx="2148840" cy="548640"/>
          </a:xfrm>
          <a:prstGeom prst="rect">
            <a:avLst/>
          </a:prstGeom>
          <a:noFill/>
          <a:ln/>
        </p:spPr>
        <p:txBody>
          <a:bodyPr wrap="square" lIns="0" tIns="0" rIns="0" bIns="0" rtlCol="0" anchor="t"/>
          <a:lstStyle/>
          <a:p>
            <a:pPr indent="0" marL="0">
              <a:buNone/>
            </a:pPr>
            <a:r>
              <a:rPr lang="en-US" sz="1200" dirty="0">
                <a:solidFill>
                  <a:schemeClr val="tx2"/>
                </a:solidFill>
              </a:rPr>
              <a:t>Pure functions: Dijkstra, Floyd–Warshall, Kruskal, scheduling, knapsack</a:t>
            </a:r>
            <a:endParaRPr lang="en-US" sz="1200" dirty="0"/>
          </a:p>
        </p:txBody>
      </p:sp>
      <p:sp>
        <p:nvSpPr>
          <p:cNvPr id="14" name="Layer arrow 2"/>
          <p:cNvSpPr/>
          <p:nvPr/>
        </p:nvSpPr>
        <p:spPr>
          <a:xfrm>
            <a:off x="5843016" y="2011680"/>
            <a:ext cx="256032" cy="256032"/>
          </a:xfrm>
          <a:prstGeom prst="rightArrow">
            <a:avLst/>
          </a:prstGeom>
          <a:solidFill>
            <a:schemeClr val="accent1"/>
          </a:solidFill>
          <a:ln/>
        </p:spPr>
      </p:sp>
      <p:sp>
        <p:nvSpPr>
          <p:cNvPr id="15" name="Layer card 3"/>
          <p:cNvSpPr/>
          <p:nvPr/>
        </p:nvSpPr>
        <p:spPr>
          <a:xfrm>
            <a:off x="6126480" y="1280160"/>
            <a:ext cx="2468880" cy="1691640"/>
          </a:xfrm>
          <a:prstGeom prst="roundRect">
            <a:avLst>
              <a:gd name="adj" fmla="val 4324"/>
            </a:avLst>
          </a:prstGeom>
          <a:solidFill>
            <a:schemeClr val="bg2"/>
          </a:solidFill>
          <a:ln/>
        </p:spPr>
      </p:sp>
      <p:sp>
        <p:nvSpPr>
          <p:cNvPr id="16" name="Layer icon 3"/>
          <p:cNvSpPr/>
          <p:nvPr/>
        </p:nvSpPr>
        <p:spPr>
          <a:xfrm>
            <a:off x="6309360" y="1444752"/>
            <a:ext cx="502920" cy="502920"/>
          </a:xfrm>
          <a:prstGeom prst="ellipse">
            <a:avLst/>
          </a:prstGeom>
          <a:solidFill>
            <a:srgbClr val="0A7C78"/>
          </a:solidFill>
          <a:ln/>
        </p:spPr>
      </p:sp>
      <p:pic>
        <p:nvPicPr>
          <p:cNvPr id="17" name="Image 2" descr="Layer icon 3">    </p:cNvPr>
          <p:cNvPicPr>
            <a:picLocks noChangeAspect="1"/>
          </p:cNvPicPr>
          <p:nvPr/>
        </p:nvPicPr>
        <p:blipFill>
          <a:blip r:embed="rId3"/>
          <a:stretch>
            <a:fillRect/>
          </a:stretch>
        </p:blipFill>
        <p:spPr>
          <a:xfrm>
            <a:off x="6435090" y="1570482"/>
            <a:ext cx="251460" cy="251460"/>
          </a:xfrm>
          <a:prstGeom prst="rect">
            <a:avLst/>
          </a:prstGeom>
        </p:spPr>
      </p:pic>
      <p:sp>
        <p:nvSpPr>
          <p:cNvPr id="18" name="Layer title 3"/>
          <p:cNvSpPr txBox="1"/>
          <p:nvPr/>
        </p:nvSpPr>
        <p:spPr>
          <a:xfrm>
            <a:off x="6309360" y="2057400"/>
            <a:ext cx="2103120" cy="274320"/>
          </a:xfrm>
          <a:prstGeom prst="rect">
            <a:avLst/>
          </a:prstGeom>
          <a:noFill/>
          <a:ln/>
        </p:spPr>
        <p:txBody>
          <a:bodyPr wrap="square" lIns="0" tIns="0" rIns="0" bIns="0" rtlCol="0" anchor="t"/>
          <a:lstStyle/>
          <a:p>
            <a:pPr indent="0" marL="0">
              <a:buNone/>
            </a:pPr>
            <a:r>
              <a:rPr lang="en-US" sz="1600" b="1" dirty="0">
                <a:solidFill>
                  <a:schemeClr val="tx1"/>
                </a:solidFill>
              </a:rPr>
              <a:t>Sample data layer</a:t>
            </a:r>
            <a:endParaRPr lang="en-US" sz="1600" dirty="0"/>
          </a:p>
        </p:txBody>
      </p:sp>
      <p:sp>
        <p:nvSpPr>
          <p:cNvPr id="19" name="Layer text 3"/>
          <p:cNvSpPr txBox="1"/>
          <p:nvPr/>
        </p:nvSpPr>
        <p:spPr>
          <a:xfrm>
            <a:off x="6309360" y="2359152"/>
            <a:ext cx="2148840" cy="548640"/>
          </a:xfrm>
          <a:prstGeom prst="rect">
            <a:avLst/>
          </a:prstGeom>
          <a:noFill/>
          <a:ln/>
        </p:spPr>
        <p:txBody>
          <a:bodyPr wrap="square" lIns="0" tIns="0" rIns="0" bIns="0" rtlCol="0" anchor="t"/>
          <a:lstStyle/>
          <a:p>
            <a:pPr indent="0" marL="0">
              <a:buNone/>
            </a:pPr>
            <a:r>
              <a:rPr lang="en-US" sz="1200" dirty="0">
                <a:solidFill>
                  <a:schemeClr val="tx2"/>
                </a:solidFill>
              </a:rPr>
              <a:t>12 stops, 19 roads, demand, fleet and trip lists</a:t>
            </a:r>
            <a:endParaRPr lang="en-US" sz="1200" dirty="0"/>
          </a:p>
        </p:txBody>
      </p:sp>
      <p:sp>
        <p:nvSpPr>
          <p:cNvPr id="20" name="Role card 1"/>
          <p:cNvSpPr/>
          <p:nvPr/>
        </p:nvSpPr>
        <p:spPr>
          <a:xfrm>
            <a:off x="548640" y="3200400"/>
            <a:ext cx="3931920" cy="1417320"/>
          </a:xfrm>
          <a:prstGeom prst="roundRect">
            <a:avLst>
              <a:gd name="adj" fmla="val 5161"/>
            </a:avLst>
          </a:prstGeom>
          <a:solidFill>
            <a:schemeClr val="tx1"/>
          </a:solidFill>
          <a:ln/>
        </p:spPr>
      </p:sp>
      <p:sp>
        <p:nvSpPr>
          <p:cNvPr id="21" name="Role icon 1"/>
          <p:cNvSpPr/>
          <p:nvPr/>
        </p:nvSpPr>
        <p:spPr>
          <a:xfrm>
            <a:off x="731520" y="3364992"/>
            <a:ext cx="457200" cy="457200"/>
          </a:xfrm>
          <a:prstGeom prst="ellipse">
            <a:avLst/>
          </a:prstGeom>
          <a:solidFill>
            <a:srgbClr val="C8203F"/>
          </a:solidFill>
          <a:ln/>
        </p:spPr>
      </p:sp>
      <p:pic>
        <p:nvPicPr>
          <p:cNvPr id="22" name="Image 3" descr="Role icon 1">    </p:cNvPr>
          <p:cNvPicPr>
            <a:picLocks noChangeAspect="1"/>
          </p:cNvPicPr>
          <p:nvPr/>
        </p:nvPicPr>
        <p:blipFill>
          <a:blip r:embed="rId4"/>
          <a:stretch>
            <a:fillRect/>
          </a:stretch>
        </p:blipFill>
        <p:spPr>
          <a:xfrm>
            <a:off x="845820" y="3479292"/>
            <a:ext cx="228600" cy="228600"/>
          </a:xfrm>
          <a:prstGeom prst="rect">
            <a:avLst/>
          </a:prstGeom>
        </p:spPr>
      </p:pic>
      <p:sp>
        <p:nvSpPr>
          <p:cNvPr id="23" name="Role title 1"/>
          <p:cNvSpPr txBox="1"/>
          <p:nvPr/>
        </p:nvSpPr>
        <p:spPr>
          <a:xfrm>
            <a:off x="1325880" y="3429000"/>
            <a:ext cx="2926080" cy="320040"/>
          </a:xfrm>
          <a:prstGeom prst="rect">
            <a:avLst/>
          </a:prstGeom>
          <a:noFill/>
          <a:ln/>
        </p:spPr>
        <p:txBody>
          <a:bodyPr wrap="square" lIns="0" tIns="0" rIns="0" bIns="0" rtlCol="0" anchor="t"/>
          <a:lstStyle/>
          <a:p>
            <a:pPr indent="0" marL="0">
              <a:buNone/>
            </a:pPr>
            <a:r>
              <a:rPr lang="en-US" sz="1800" b="1" dirty="0">
                <a:solidFill>
                  <a:schemeClr val="bg1"/>
                </a:solidFill>
              </a:rPr>
              <a:t>Passenger</a:t>
            </a:r>
            <a:endParaRPr lang="en-US" sz="1800" dirty="0"/>
          </a:p>
        </p:txBody>
      </p:sp>
      <p:sp>
        <p:nvSpPr>
          <p:cNvPr id="24" name="Role list 1"/>
          <p:cNvSpPr txBox="1"/>
          <p:nvPr/>
        </p:nvSpPr>
        <p:spPr>
          <a:xfrm>
            <a:off x="1325880" y="3794760"/>
            <a:ext cx="3063240" cy="777240"/>
          </a:xfrm>
          <a:prstGeom prst="rect">
            <a:avLst/>
          </a:prstGeom>
          <a:noFill/>
          <a:ln/>
        </p:spPr>
        <p:txBody>
          <a:bodyPr wrap="square" lIns="0" tIns="0" rIns="0" bIns="0" rtlCol="0" anchor="t"/>
          <a:lstStyle/>
          <a:p>
            <a:pPr marL="342900" indent="-342900">
              <a:spcAft>
                <a:spcPts val="100"/>
              </a:spcAft>
              <a:buSzPct val="100000"/>
              <a:buChar char="•"/>
            </a:pPr>
            <a:r>
              <a:rPr lang="en-US" sz="1200" dirty="0">
                <a:solidFill>
                  <a:schemeClr val="bg2"/>
                </a:solidFill>
              </a:rPr>
              <a:t>Choose source and destination</a:t>
            </a:r>
            <a:endParaRPr lang="en-US" sz="1200" dirty="0"/>
          </a:p>
          <a:p>
            <a:pPr marL="342900" indent="-342900">
              <a:spcAft>
                <a:spcPts val="100"/>
              </a:spcAft>
              <a:buSzPct val="100000"/>
              <a:buChar char="•"/>
            </a:pPr>
            <a:r>
              <a:rPr lang="en-US" sz="1200" dirty="0">
                <a:solidFill>
                  <a:schemeClr val="bg2"/>
                </a:solidFill>
              </a:rPr>
              <a:t>Enter passengers and capacity</a:t>
            </a:r>
            <a:endParaRPr lang="en-US" sz="1200" dirty="0"/>
          </a:p>
          <a:p>
            <a:pPr marL="342900" indent="-342900">
              <a:spcAft>
                <a:spcPts val="100"/>
              </a:spcAft>
              <a:buSzPct val="100000"/>
              <a:buChar char="•"/>
            </a:pPr>
            <a:r>
              <a:rPr lang="en-US" sz="1200" dirty="0">
                <a:solidFill>
                  <a:schemeClr val="bg2"/>
                </a:solidFill>
              </a:rPr>
              <a:t>See the highlighted shortest route</a:t>
            </a:r>
            <a:endParaRPr lang="en-US" sz="1200" dirty="0"/>
          </a:p>
          <a:p>
            <a:pPr marL="342900" indent="-342900">
              <a:spcAft>
                <a:spcPts val="100"/>
              </a:spcAft>
              <a:buSzPct val="100000"/>
              <a:buChar char="•"/>
            </a:pPr>
            <a:r>
              <a:rPr lang="en-US" sz="1200" dirty="0">
                <a:solidFill>
                  <a:schemeClr val="bg2"/>
                </a:solidFill>
              </a:rPr>
              <a:t>Run the shuttle simulation</a:t>
            </a:r>
            <a:endParaRPr lang="en-US" sz="1200" dirty="0"/>
          </a:p>
        </p:txBody>
      </p:sp>
      <p:sp>
        <p:nvSpPr>
          <p:cNvPr id="25" name="Role card 2"/>
          <p:cNvSpPr/>
          <p:nvPr/>
        </p:nvSpPr>
        <p:spPr>
          <a:xfrm>
            <a:off x="4663440" y="3200400"/>
            <a:ext cx="3931920" cy="1417320"/>
          </a:xfrm>
          <a:prstGeom prst="roundRect">
            <a:avLst>
              <a:gd name="adj" fmla="val 5161"/>
            </a:avLst>
          </a:prstGeom>
          <a:solidFill>
            <a:schemeClr val="tx1"/>
          </a:solidFill>
          <a:ln/>
        </p:spPr>
      </p:sp>
      <p:sp>
        <p:nvSpPr>
          <p:cNvPr id="26" name="Role icon 2"/>
          <p:cNvSpPr/>
          <p:nvPr/>
        </p:nvSpPr>
        <p:spPr>
          <a:xfrm>
            <a:off x="4846320" y="3364992"/>
            <a:ext cx="457200" cy="457200"/>
          </a:xfrm>
          <a:prstGeom prst="ellipse">
            <a:avLst/>
          </a:prstGeom>
          <a:solidFill>
            <a:srgbClr val="C8203F"/>
          </a:solidFill>
          <a:ln/>
        </p:spPr>
      </p:sp>
      <p:pic>
        <p:nvPicPr>
          <p:cNvPr id="27" name="Image 4" descr="Role icon 2">    </p:cNvPr>
          <p:cNvPicPr>
            <a:picLocks noChangeAspect="1"/>
          </p:cNvPicPr>
          <p:nvPr/>
        </p:nvPicPr>
        <p:blipFill>
          <a:blip r:embed="rId5"/>
          <a:stretch>
            <a:fillRect/>
          </a:stretch>
        </p:blipFill>
        <p:spPr>
          <a:xfrm>
            <a:off x="4960620" y="3479292"/>
            <a:ext cx="228600" cy="228600"/>
          </a:xfrm>
          <a:prstGeom prst="rect">
            <a:avLst/>
          </a:prstGeom>
        </p:spPr>
      </p:pic>
      <p:sp>
        <p:nvSpPr>
          <p:cNvPr id="28" name="Role title 2"/>
          <p:cNvSpPr txBox="1"/>
          <p:nvPr/>
        </p:nvSpPr>
        <p:spPr>
          <a:xfrm>
            <a:off x="5440680" y="3429000"/>
            <a:ext cx="2926080" cy="320040"/>
          </a:xfrm>
          <a:prstGeom prst="rect">
            <a:avLst/>
          </a:prstGeom>
          <a:noFill/>
          <a:ln/>
        </p:spPr>
        <p:txBody>
          <a:bodyPr wrap="square" lIns="0" tIns="0" rIns="0" bIns="0" rtlCol="0" anchor="t"/>
          <a:lstStyle/>
          <a:p>
            <a:pPr indent="0" marL="0">
              <a:buNone/>
            </a:pPr>
            <a:r>
              <a:rPr lang="en-US" sz="1800" b="1" dirty="0">
                <a:solidFill>
                  <a:schemeClr val="bg1"/>
                </a:solidFill>
              </a:rPr>
              <a:t>Administrator</a:t>
            </a:r>
            <a:endParaRPr lang="en-US" sz="1800" dirty="0"/>
          </a:p>
        </p:txBody>
      </p:sp>
      <p:sp>
        <p:nvSpPr>
          <p:cNvPr id="29" name="Role list 2"/>
          <p:cNvSpPr txBox="1"/>
          <p:nvPr/>
        </p:nvSpPr>
        <p:spPr>
          <a:xfrm>
            <a:off x="5440680" y="3794760"/>
            <a:ext cx="3063240" cy="777240"/>
          </a:xfrm>
          <a:prstGeom prst="rect">
            <a:avLst/>
          </a:prstGeom>
          <a:noFill/>
          <a:ln/>
        </p:spPr>
        <p:txBody>
          <a:bodyPr wrap="square" lIns="0" tIns="0" rIns="0" bIns="0" rtlCol="0" anchor="t"/>
          <a:lstStyle/>
          <a:p>
            <a:pPr marL="342900" indent="-342900">
              <a:spcAft>
                <a:spcPts val="100"/>
              </a:spcAft>
              <a:buSzPct val="100000"/>
              <a:buChar char="•"/>
            </a:pPr>
            <a:r>
              <a:rPr lang="en-US" sz="1200" dirty="0">
                <a:solidFill>
                  <a:schemeClr val="bg2"/>
                </a:solidFill>
              </a:rPr>
              <a:t>Monitor demand and shuttle status</a:t>
            </a:r>
            <a:endParaRPr lang="en-US" sz="1200" dirty="0"/>
          </a:p>
          <a:p>
            <a:pPr marL="342900" indent="-342900">
              <a:spcAft>
                <a:spcPts val="100"/>
              </a:spcAft>
              <a:buSzPct val="100000"/>
              <a:buChar char="•"/>
            </a:pPr>
            <a:r>
              <a:rPr lang="en-US" sz="1200" dirty="0">
                <a:solidFill>
                  <a:schemeClr val="bg2"/>
                </a:solidFill>
              </a:rPr>
              <a:t>Edit demand and capacity</a:t>
            </a:r>
            <a:endParaRPr lang="en-US" sz="1200" dirty="0"/>
          </a:p>
          <a:p>
            <a:pPr marL="342900" indent="-342900">
              <a:spcAft>
                <a:spcPts val="100"/>
              </a:spcAft>
              <a:buSzPct val="100000"/>
              <a:buChar char="•"/>
            </a:pPr>
            <a:r>
              <a:rPr lang="en-US" sz="1200" dirty="0">
                <a:solidFill>
                  <a:schemeClr val="bg2"/>
                </a:solidFill>
              </a:rPr>
              <a:t>Inspect every algorithm step</a:t>
            </a:r>
            <a:endParaRPr lang="en-US" sz="1200" dirty="0"/>
          </a:p>
          <a:p>
            <a:pPr marL="342900" indent="-342900">
              <a:spcAft>
                <a:spcPts val="100"/>
              </a:spcAft>
              <a:buSzPct val="100000"/>
              <a:buChar char="•"/>
            </a:pPr>
            <a:r>
              <a:rPr lang="en-US" sz="1200" dirty="0">
                <a:solidFill>
                  <a:schemeClr val="bg2"/>
                </a:solidFill>
              </a:rPr>
              <a:t>Manage the trip schedule</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Passenger view: plan and simulate</a:t>
            </a:r>
            <a:endParaRPr lang="en-US" sz="3200" dirty="0"/>
          </a:p>
        </p:txBody>
      </p:sp>
      <p:pic>
        <p:nvPicPr>
          <p:cNvPr id="3" name="Image 0" descr="Passenger dashboard showing the Main Gate to Tower 5 route and shuttle simulation">    </p:cNvPr>
          <p:cNvPicPr>
            <a:picLocks noChangeAspect="1"/>
          </p:cNvPicPr>
          <p:nvPr/>
        </p:nvPicPr>
        <p:blipFill>
          <a:blip r:embed="rId1"/>
          <a:stretch>
            <a:fillRect/>
          </a:stretch>
        </p:blipFill>
        <p:spPr>
          <a:xfrm>
            <a:off x="548640" y="1234440"/>
            <a:ext cx="4937760" cy="3471863"/>
          </a:xfrm>
          <a:prstGeom prst="rect">
            <a:avLst/>
          </a:prstGeom>
          <a:effectLst>
            <a:outerShdw sx="100000" sy="100000" kx="0" ky="0" algn="bl" rotWithShape="0" blurRad="101600" dist="25400" dir="5400000">
              <a:srgbClr val="000000">
                <a:alpha val="14000"/>
              </a:srgbClr>
            </a:outerShdw>
          </a:effectLst>
        </p:spPr>
      </p:pic>
      <p:sp>
        <p:nvSpPr>
          <p:cNvPr id="4" name="Passenger point 1"/>
          <p:cNvSpPr txBox="1"/>
          <p:nvPr/>
        </p:nvSpPr>
        <p:spPr>
          <a:xfrm>
            <a:off x="5760720" y="1234440"/>
            <a:ext cx="2834640" cy="256032"/>
          </a:xfrm>
          <a:prstGeom prst="rect">
            <a:avLst/>
          </a:prstGeom>
          <a:noFill/>
          <a:ln/>
        </p:spPr>
        <p:txBody>
          <a:bodyPr wrap="square" lIns="0" tIns="0" rIns="0" bIns="0" rtlCol="0" anchor="t"/>
          <a:lstStyle/>
          <a:p>
            <a:pPr indent="0" marL="0">
              <a:buNone/>
            </a:pPr>
            <a:r>
              <a:rPr lang="en-US" sz="1600" b="1" dirty="0">
                <a:solidFill>
                  <a:schemeClr val="accent1"/>
                </a:solidFill>
              </a:rPr>
              <a:t>Pick stops</a:t>
            </a:r>
            <a:endParaRPr lang="en-US" sz="1600" dirty="0"/>
          </a:p>
        </p:txBody>
      </p:sp>
      <p:sp>
        <p:nvSpPr>
          <p:cNvPr id="5" name="Passenger text 1"/>
          <p:cNvSpPr txBox="1"/>
          <p:nvPr/>
        </p:nvSpPr>
        <p:spPr>
          <a:xfrm>
            <a:off x="5760720" y="1508760"/>
            <a:ext cx="2834640" cy="502920"/>
          </a:xfrm>
          <a:prstGeom prst="rect">
            <a:avLst/>
          </a:prstGeom>
          <a:noFill/>
          <a:ln/>
        </p:spPr>
        <p:txBody>
          <a:bodyPr wrap="square" lIns="0" tIns="0" rIns="0" bIns="0" rtlCol="0" anchor="t"/>
          <a:lstStyle/>
          <a:p>
            <a:pPr indent="0" marL="0">
              <a:buNone/>
            </a:pPr>
            <a:r>
              <a:rPr lang="en-US" sz="1400" dirty="0">
                <a:solidFill>
                  <a:schemeClr val="tx1"/>
                </a:solidFill>
              </a:rPr>
              <a:t>Use the dropdowns or click stops on the map.</a:t>
            </a:r>
            <a:endParaRPr lang="en-US" sz="1400" dirty="0"/>
          </a:p>
        </p:txBody>
      </p:sp>
      <p:sp>
        <p:nvSpPr>
          <p:cNvPr id="6" name="Passenger point 2"/>
          <p:cNvSpPr txBox="1"/>
          <p:nvPr/>
        </p:nvSpPr>
        <p:spPr>
          <a:xfrm>
            <a:off x="5760720" y="2084832"/>
            <a:ext cx="2834640" cy="256032"/>
          </a:xfrm>
          <a:prstGeom prst="rect">
            <a:avLst/>
          </a:prstGeom>
          <a:noFill/>
          <a:ln/>
        </p:spPr>
        <p:txBody>
          <a:bodyPr wrap="square" lIns="0" tIns="0" rIns="0" bIns="0" rtlCol="0" anchor="t"/>
          <a:lstStyle/>
          <a:p>
            <a:pPr indent="0" marL="0">
              <a:buNone/>
            </a:pPr>
            <a:r>
              <a:rPr lang="en-US" sz="1600" b="1" dirty="0">
                <a:solidFill>
                  <a:schemeClr val="accent1"/>
                </a:solidFill>
              </a:rPr>
              <a:t>Shortest route</a:t>
            </a:r>
            <a:endParaRPr lang="en-US" sz="1600" dirty="0"/>
          </a:p>
        </p:txBody>
      </p:sp>
      <p:sp>
        <p:nvSpPr>
          <p:cNvPr id="7" name="Passenger text 2"/>
          <p:cNvSpPr txBox="1"/>
          <p:nvPr/>
        </p:nvSpPr>
        <p:spPr>
          <a:xfrm>
            <a:off x="5760720" y="2359152"/>
            <a:ext cx="2834640" cy="502920"/>
          </a:xfrm>
          <a:prstGeom prst="rect">
            <a:avLst/>
          </a:prstGeom>
          <a:noFill/>
          <a:ln/>
        </p:spPr>
        <p:txBody>
          <a:bodyPr wrap="square" lIns="0" tIns="0" rIns="0" bIns="0" rtlCol="0" anchor="t"/>
          <a:lstStyle/>
          <a:p>
            <a:pPr indent="0" marL="0">
              <a:buNone/>
            </a:pPr>
            <a:r>
              <a:rPr lang="en-US" sz="1400" dirty="0">
                <a:solidFill>
                  <a:schemeClr val="tx1"/>
                </a:solidFill>
              </a:rPr>
              <a:t>Dijkstra returns 12 minutes for Main Gate to Tower 5.</a:t>
            </a:r>
            <a:endParaRPr lang="en-US" sz="1400" dirty="0"/>
          </a:p>
        </p:txBody>
      </p:sp>
      <p:sp>
        <p:nvSpPr>
          <p:cNvPr id="8" name="Passenger point 3"/>
          <p:cNvSpPr txBox="1"/>
          <p:nvPr/>
        </p:nvSpPr>
        <p:spPr>
          <a:xfrm>
            <a:off x="5760720" y="2935224"/>
            <a:ext cx="2834640" cy="256032"/>
          </a:xfrm>
          <a:prstGeom prst="rect">
            <a:avLst/>
          </a:prstGeom>
          <a:noFill/>
          <a:ln/>
        </p:spPr>
        <p:txBody>
          <a:bodyPr wrap="square" lIns="0" tIns="0" rIns="0" bIns="0" rtlCol="0" anchor="t"/>
          <a:lstStyle/>
          <a:p>
            <a:pPr indent="0" marL="0">
              <a:buNone/>
            </a:pPr>
            <a:r>
              <a:rPr lang="en-US" sz="1600" b="1" dirty="0">
                <a:solidFill>
                  <a:schemeClr val="accent1"/>
                </a:solidFill>
              </a:rPr>
              <a:t>Seats and shuttle</a:t>
            </a:r>
            <a:endParaRPr lang="en-US" sz="1600" dirty="0"/>
          </a:p>
        </p:txBody>
      </p:sp>
      <p:sp>
        <p:nvSpPr>
          <p:cNvPr id="9" name="Passenger text 3"/>
          <p:cNvSpPr txBox="1"/>
          <p:nvPr/>
        </p:nvSpPr>
        <p:spPr>
          <a:xfrm>
            <a:off x="5760720" y="3209544"/>
            <a:ext cx="2834640" cy="502920"/>
          </a:xfrm>
          <a:prstGeom prst="rect">
            <a:avLst/>
          </a:prstGeom>
          <a:noFill/>
          <a:ln/>
        </p:spPr>
        <p:txBody>
          <a:bodyPr wrap="square" lIns="0" tIns="0" rIns="0" bIns="0" rtlCol="0" anchor="t"/>
          <a:lstStyle/>
          <a:p>
            <a:pPr indent="0" marL="0">
              <a:buNone/>
            </a:pPr>
            <a:r>
              <a:rPr lang="en-US" sz="1400" dirty="0">
                <a:solidFill>
                  <a:schemeClr val="tx1"/>
                </a:solidFill>
              </a:rPr>
              <a:t>Shows remaining seats and the nearest shuttle with room.</a:t>
            </a:r>
            <a:endParaRPr lang="en-US" sz="1400" dirty="0"/>
          </a:p>
        </p:txBody>
      </p:sp>
      <p:sp>
        <p:nvSpPr>
          <p:cNvPr id="10" name="Passenger point 4"/>
          <p:cNvSpPr txBox="1"/>
          <p:nvPr/>
        </p:nvSpPr>
        <p:spPr>
          <a:xfrm>
            <a:off x="5760720" y="3785616"/>
            <a:ext cx="2834640" cy="256032"/>
          </a:xfrm>
          <a:prstGeom prst="rect">
            <a:avLst/>
          </a:prstGeom>
          <a:noFill/>
          <a:ln/>
        </p:spPr>
        <p:txBody>
          <a:bodyPr wrap="square" lIns="0" tIns="0" rIns="0" bIns="0" rtlCol="0" anchor="t"/>
          <a:lstStyle/>
          <a:p>
            <a:pPr indent="0" marL="0">
              <a:buNone/>
            </a:pPr>
            <a:r>
              <a:rPr lang="en-US" sz="1600" b="1" dirty="0">
                <a:solidFill>
                  <a:schemeClr val="accent1"/>
                </a:solidFill>
              </a:rPr>
              <a:t>Live simulation</a:t>
            </a:r>
            <a:endParaRPr lang="en-US" sz="1600" dirty="0"/>
          </a:p>
        </p:txBody>
      </p:sp>
      <p:sp>
        <p:nvSpPr>
          <p:cNvPr id="11" name="Passenger text 4"/>
          <p:cNvSpPr txBox="1"/>
          <p:nvPr/>
        </p:nvSpPr>
        <p:spPr>
          <a:xfrm>
            <a:off x="5760720" y="4059936"/>
            <a:ext cx="2834640" cy="502920"/>
          </a:xfrm>
          <a:prstGeom prst="rect">
            <a:avLst/>
          </a:prstGeom>
          <a:noFill/>
          <a:ln/>
        </p:spPr>
        <p:txBody>
          <a:bodyPr wrap="square" lIns="0" tIns="0" rIns="0" bIns="0" rtlCol="0" anchor="t"/>
          <a:lstStyle/>
          <a:p>
            <a:pPr indent="0" marL="0">
              <a:buNone/>
            </a:pPr>
            <a:r>
              <a:rPr lang="en-US" sz="1400" dirty="0">
                <a:solidFill>
                  <a:schemeClr val="tx1"/>
                </a:solidFill>
              </a:rPr>
              <a:t>A shuttle moves along the route at 1x, 2x or 4x.</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Administrator view: monitor and decide</a:t>
            </a:r>
            <a:endParaRPr lang="en-US" sz="3200" dirty="0"/>
          </a:p>
        </p:txBody>
      </p:sp>
      <p:pic>
        <p:nvPicPr>
          <p:cNvPr id="3" name="Image 0" descr="Administrator operations overview with demand bars, fleet table and live checks">    </p:cNvPr>
          <p:cNvPicPr>
            <a:picLocks noChangeAspect="1"/>
          </p:cNvPicPr>
          <p:nvPr/>
        </p:nvPicPr>
        <p:blipFill>
          <a:blip r:embed="rId1"/>
          <a:stretch>
            <a:fillRect/>
          </a:stretch>
        </p:blipFill>
        <p:spPr>
          <a:xfrm>
            <a:off x="548640" y="1234440"/>
            <a:ext cx="3566160" cy="2997803"/>
          </a:xfrm>
          <a:prstGeom prst="rect">
            <a:avLst/>
          </a:prstGeom>
          <a:effectLst>
            <a:outerShdw sx="100000" sy="100000" kx="0" ky="0" algn="bl" rotWithShape="0" blurRad="101600" dist="25400" dir="5400000">
              <a:srgbClr val="000000">
                <a:alpha val="14000"/>
              </a:srgbClr>
            </a:outerShdw>
          </a:effectLst>
        </p:spPr>
      </p:pic>
      <p:sp>
        <p:nvSpPr>
          <p:cNvPr id="4" name="Admin point 1"/>
          <p:cNvSpPr txBox="1"/>
          <p:nvPr/>
        </p:nvSpPr>
        <p:spPr>
          <a:xfrm>
            <a:off x="4480560" y="1234440"/>
            <a:ext cx="4114800" cy="256032"/>
          </a:xfrm>
          <a:prstGeom prst="rect">
            <a:avLst/>
          </a:prstGeom>
          <a:noFill/>
          <a:ln/>
        </p:spPr>
        <p:txBody>
          <a:bodyPr wrap="square" lIns="0" tIns="0" rIns="0" bIns="0" rtlCol="0" anchor="t"/>
          <a:lstStyle/>
          <a:p>
            <a:pPr indent="0" marL="0">
              <a:buNone/>
            </a:pPr>
            <a:r>
              <a:rPr lang="en-US" sz="1600" b="1" dirty="0">
                <a:solidFill>
                  <a:schemeClr val="accent1"/>
                </a:solidFill>
              </a:rPr>
              <a:t>Overview</a:t>
            </a:r>
            <a:endParaRPr lang="en-US" sz="1600" dirty="0"/>
          </a:p>
        </p:txBody>
      </p:sp>
      <p:sp>
        <p:nvSpPr>
          <p:cNvPr id="5" name="Admin text 1"/>
          <p:cNvSpPr txBox="1"/>
          <p:nvPr/>
        </p:nvSpPr>
        <p:spPr>
          <a:xfrm>
            <a:off x="4480560" y="1508760"/>
            <a:ext cx="4114800" cy="502920"/>
          </a:xfrm>
          <a:prstGeom prst="rect">
            <a:avLst/>
          </a:prstGeom>
          <a:noFill/>
          <a:ln/>
        </p:spPr>
        <p:txBody>
          <a:bodyPr wrap="square" lIns="0" tIns="0" rIns="0" bIns="0" rtlCol="0" anchor="t"/>
          <a:lstStyle/>
          <a:p>
            <a:pPr indent="0" marL="0">
              <a:buNone/>
            </a:pPr>
            <a:r>
              <a:rPr lang="en-US" sz="1400" dirty="0">
                <a:solidFill>
                  <a:schemeClr val="tx1"/>
                </a:solidFill>
              </a:rPr>
              <a:t>168 passengers waiting across 12 stops, fleet status, demand bars.</a:t>
            </a:r>
            <a:endParaRPr lang="en-US" sz="1400" dirty="0"/>
          </a:p>
        </p:txBody>
      </p:sp>
      <p:sp>
        <p:nvSpPr>
          <p:cNvPr id="6" name="Admin point 2"/>
          <p:cNvSpPr txBox="1"/>
          <p:nvPr/>
        </p:nvSpPr>
        <p:spPr>
          <a:xfrm>
            <a:off x="4480560" y="2084832"/>
            <a:ext cx="4114800" cy="256032"/>
          </a:xfrm>
          <a:prstGeom prst="rect">
            <a:avLst/>
          </a:prstGeom>
          <a:noFill/>
          <a:ln/>
        </p:spPr>
        <p:txBody>
          <a:bodyPr wrap="square" lIns="0" tIns="0" rIns="0" bIns="0" rtlCol="0" anchor="t"/>
          <a:lstStyle/>
          <a:p>
            <a:pPr indent="0" marL="0">
              <a:buNone/>
            </a:pPr>
            <a:r>
              <a:rPr lang="en-US" sz="1600" b="1" dirty="0">
                <a:solidFill>
                  <a:schemeClr val="accent1"/>
                </a:solidFill>
              </a:rPr>
              <a:t>Fleet and demand</a:t>
            </a:r>
            <a:endParaRPr lang="en-US" sz="1600" dirty="0"/>
          </a:p>
        </p:txBody>
      </p:sp>
      <p:sp>
        <p:nvSpPr>
          <p:cNvPr id="7" name="Admin text 2"/>
          <p:cNvSpPr txBox="1"/>
          <p:nvPr/>
        </p:nvSpPr>
        <p:spPr>
          <a:xfrm>
            <a:off x="4480560" y="2359152"/>
            <a:ext cx="4114800" cy="502920"/>
          </a:xfrm>
          <a:prstGeom prst="rect">
            <a:avLst/>
          </a:prstGeom>
          <a:noFill/>
          <a:ln/>
        </p:spPr>
        <p:txBody>
          <a:bodyPr wrap="square" lIns="0" tIns="0" rIns="0" bIns="0" rtlCol="0" anchor="t"/>
          <a:lstStyle/>
          <a:p>
            <a:pPr indent="0" marL="0">
              <a:buNone/>
            </a:pPr>
            <a:r>
              <a:rPr lang="en-US" sz="1400" dirty="0">
                <a:solidFill>
                  <a:schemeClr val="tx1"/>
                </a:solidFill>
              </a:rPr>
              <a:t>Edit waiting passengers and capacity. Seat allocation updates instantly.</a:t>
            </a:r>
            <a:endParaRPr lang="en-US" sz="1400" dirty="0"/>
          </a:p>
        </p:txBody>
      </p:sp>
      <p:sp>
        <p:nvSpPr>
          <p:cNvPr id="8" name="Admin point 3"/>
          <p:cNvSpPr txBox="1"/>
          <p:nvPr/>
        </p:nvSpPr>
        <p:spPr>
          <a:xfrm>
            <a:off x="4480560" y="2935224"/>
            <a:ext cx="4114800" cy="256032"/>
          </a:xfrm>
          <a:prstGeom prst="rect">
            <a:avLst/>
          </a:prstGeom>
          <a:noFill/>
          <a:ln/>
        </p:spPr>
        <p:txBody>
          <a:bodyPr wrap="square" lIns="0" tIns="0" rIns="0" bIns="0" rtlCol="0" anchor="t"/>
          <a:lstStyle/>
          <a:p>
            <a:pPr indent="0" marL="0">
              <a:buNone/>
            </a:pPr>
            <a:r>
              <a:rPr lang="en-US" sz="1600" b="1" dirty="0">
                <a:solidFill>
                  <a:schemeClr val="accent1"/>
                </a:solidFill>
              </a:rPr>
              <a:t>Algorithm lab</a:t>
            </a:r>
            <a:endParaRPr lang="en-US" sz="1600" dirty="0"/>
          </a:p>
        </p:txBody>
      </p:sp>
      <p:sp>
        <p:nvSpPr>
          <p:cNvPr id="9" name="Admin text 3"/>
          <p:cNvSpPr txBox="1"/>
          <p:nvPr/>
        </p:nvSpPr>
        <p:spPr>
          <a:xfrm>
            <a:off x="4480560" y="3209544"/>
            <a:ext cx="4114800" cy="502920"/>
          </a:xfrm>
          <a:prstGeom prst="rect">
            <a:avLst/>
          </a:prstGeom>
          <a:noFill/>
          <a:ln/>
        </p:spPr>
        <p:txBody>
          <a:bodyPr wrap="square" lIns="0" tIns="0" rIns="0" bIns="0" rtlCol="0" anchor="t"/>
          <a:lstStyle/>
          <a:p>
            <a:pPr indent="0" marL="0">
              <a:buNone/>
            </a:pPr>
            <a:r>
              <a:rPr lang="en-US" sz="1400" dirty="0">
                <a:solidFill>
                  <a:schemeClr val="tx1"/>
                </a:solidFill>
              </a:rPr>
              <a:t>Step-by-step tables for all six algorithms, plus a timing comparison.</a:t>
            </a:r>
            <a:endParaRPr lang="en-US" sz="1400" dirty="0"/>
          </a:p>
        </p:txBody>
      </p:sp>
      <p:sp>
        <p:nvSpPr>
          <p:cNvPr id="10" name="Admin point 4"/>
          <p:cNvSpPr txBox="1"/>
          <p:nvPr/>
        </p:nvSpPr>
        <p:spPr>
          <a:xfrm>
            <a:off x="4480560" y="3785616"/>
            <a:ext cx="4114800" cy="256032"/>
          </a:xfrm>
          <a:prstGeom prst="rect">
            <a:avLst/>
          </a:prstGeom>
          <a:noFill/>
          <a:ln/>
        </p:spPr>
        <p:txBody>
          <a:bodyPr wrap="square" lIns="0" tIns="0" rIns="0" bIns="0" rtlCol="0" anchor="t"/>
          <a:lstStyle/>
          <a:p>
            <a:pPr indent="0" marL="0">
              <a:buNone/>
            </a:pPr>
            <a:r>
              <a:rPr lang="en-US" sz="1600" b="1" dirty="0">
                <a:solidFill>
                  <a:schemeClr val="accent1"/>
                </a:solidFill>
              </a:rPr>
              <a:t>Scheduling</a:t>
            </a:r>
            <a:endParaRPr lang="en-US" sz="1600" dirty="0"/>
          </a:p>
        </p:txBody>
      </p:sp>
      <p:sp>
        <p:nvSpPr>
          <p:cNvPr id="11" name="Admin text 4"/>
          <p:cNvSpPr txBox="1"/>
          <p:nvPr/>
        </p:nvSpPr>
        <p:spPr>
          <a:xfrm>
            <a:off x="4480560" y="4059936"/>
            <a:ext cx="4114800" cy="502920"/>
          </a:xfrm>
          <a:prstGeom prst="rect">
            <a:avLst/>
          </a:prstGeom>
          <a:noFill/>
          <a:ln/>
        </p:spPr>
        <p:txBody>
          <a:bodyPr wrap="square" lIns="0" tIns="0" rIns="0" bIns="0" rtlCol="0" anchor="t"/>
          <a:lstStyle/>
          <a:p>
            <a:pPr indent="0" marL="0">
              <a:buNone/>
            </a:pPr>
            <a:r>
              <a:rPr lang="en-US" sz="1400" dirty="0">
                <a:solidFill>
                  <a:schemeClr val="tx1"/>
                </a:solidFill>
              </a:rPr>
              <a:t>Add or remove trips and see which are selected.</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Worked example: Main Gate to Tower 5</a:t>
            </a:r>
            <a:endParaRPr lang="en-US" sz="3200" dirty="0"/>
          </a:p>
        </p:txBody>
      </p:sp>
      <p:sp>
        <p:nvSpPr>
          <p:cNvPr id="3" name="Chain road 1"/>
          <p:cNvSpPr/>
          <p:nvPr/>
        </p:nvSpPr>
        <p:spPr>
          <a:xfrm>
            <a:off x="1097280" y="1737360"/>
            <a:ext cx="1325880" cy="0"/>
          </a:xfrm>
          <a:prstGeom prst="line">
            <a:avLst/>
          </a:prstGeom>
          <a:noFill/>
          <a:ln w="50800">
            <a:solidFill>
              <a:schemeClr val="accent2"/>
            </a:solidFill>
            <a:prstDash val="solid"/>
          </a:ln>
        </p:spPr>
      </p:sp>
      <p:sp>
        <p:nvSpPr>
          <p:cNvPr id="4" name="Chain weight 1"/>
          <p:cNvSpPr txBox="1"/>
          <p:nvPr/>
        </p:nvSpPr>
        <p:spPr>
          <a:xfrm>
            <a:off x="1097280" y="1371600"/>
            <a:ext cx="1325880" cy="274320"/>
          </a:xfrm>
          <a:prstGeom prst="rect">
            <a:avLst/>
          </a:prstGeom>
          <a:noFill/>
          <a:ln/>
        </p:spPr>
        <p:txBody>
          <a:bodyPr wrap="square" lIns="0" tIns="0" rIns="0" bIns="0" rtlCol="0" anchor="ctr"/>
          <a:lstStyle/>
          <a:p>
            <a:pPr algn="ctr" indent="0" marL="0">
              <a:buNone/>
            </a:pPr>
            <a:r>
              <a:rPr lang="en-US" sz="1400" b="1" dirty="0">
                <a:solidFill>
                  <a:schemeClr val="accent2"/>
                </a:solidFill>
              </a:rPr>
              <a:t>3 min</a:t>
            </a:r>
            <a:endParaRPr lang="en-US" sz="1400" dirty="0"/>
          </a:p>
        </p:txBody>
      </p:sp>
      <p:sp>
        <p:nvSpPr>
          <p:cNvPr id="5" name="Chain stop MG"/>
          <p:cNvSpPr/>
          <p:nvPr/>
        </p:nvSpPr>
        <p:spPr>
          <a:xfrm>
            <a:off x="548640" y="1463040"/>
            <a:ext cx="548640" cy="548640"/>
          </a:xfrm>
          <a:prstGeom prst="ellipse">
            <a:avLst/>
          </a:prstGeom>
          <a:solidFill>
            <a:schemeClr val="accent2"/>
          </a:solidFill>
          <a:ln w="31750">
            <a:solidFill>
              <a:schemeClr val="accent2"/>
            </a:solidFill>
            <a:prstDash val="solid"/>
          </a:ln>
        </p:spPr>
      </p:sp>
      <p:sp>
        <p:nvSpPr>
          <p:cNvPr id="6" name="Chain code MG"/>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7" name="Chain name MG"/>
          <p:cNvSpPr txBox="1"/>
          <p:nvPr/>
        </p:nvSpPr>
        <p:spPr>
          <a:xfrm>
            <a:off x="182880" y="2084832"/>
            <a:ext cx="1280160" cy="274320"/>
          </a:xfrm>
          <a:prstGeom prst="rect">
            <a:avLst/>
          </a:prstGeom>
          <a:noFill/>
          <a:ln/>
        </p:spPr>
        <p:txBody>
          <a:bodyPr wrap="square" lIns="0" tIns="0" rIns="0" bIns="0" rtlCol="0" anchor="ctr"/>
          <a:lstStyle/>
          <a:p>
            <a:pPr algn="ctr" indent="0" marL="0">
              <a:buNone/>
            </a:pPr>
            <a:r>
              <a:rPr lang="en-US" sz="1400" dirty="0">
                <a:solidFill>
                  <a:schemeClr val="tx1"/>
                </a:solidFill>
              </a:rPr>
              <a:t>Main Gate</a:t>
            </a:r>
            <a:endParaRPr lang="en-US" sz="1400" dirty="0"/>
          </a:p>
        </p:txBody>
      </p:sp>
      <p:sp>
        <p:nvSpPr>
          <p:cNvPr id="8" name="Chain road 2"/>
          <p:cNvSpPr/>
          <p:nvPr/>
        </p:nvSpPr>
        <p:spPr>
          <a:xfrm>
            <a:off x="2971800" y="1737360"/>
            <a:ext cx="1325880" cy="0"/>
          </a:xfrm>
          <a:prstGeom prst="line">
            <a:avLst/>
          </a:prstGeom>
          <a:noFill/>
          <a:ln w="50800">
            <a:solidFill>
              <a:schemeClr val="accent2"/>
            </a:solidFill>
            <a:prstDash val="solid"/>
          </a:ln>
        </p:spPr>
      </p:sp>
      <p:sp>
        <p:nvSpPr>
          <p:cNvPr id="9" name="Chain weight 2"/>
          <p:cNvSpPr txBox="1"/>
          <p:nvPr/>
        </p:nvSpPr>
        <p:spPr>
          <a:xfrm>
            <a:off x="2971800" y="1371600"/>
            <a:ext cx="1325880" cy="274320"/>
          </a:xfrm>
          <a:prstGeom prst="rect">
            <a:avLst/>
          </a:prstGeom>
          <a:noFill/>
          <a:ln/>
        </p:spPr>
        <p:txBody>
          <a:bodyPr wrap="square" lIns="0" tIns="0" rIns="0" bIns="0" rtlCol="0" anchor="ctr"/>
          <a:lstStyle/>
          <a:p>
            <a:pPr algn="ctr" indent="0" marL="0">
              <a:buNone/>
            </a:pPr>
            <a:r>
              <a:rPr lang="en-US" sz="1400" b="1" dirty="0">
                <a:solidFill>
                  <a:schemeClr val="accent2"/>
                </a:solidFill>
              </a:rPr>
              <a:t>2 min</a:t>
            </a:r>
            <a:endParaRPr lang="en-US" sz="1400" dirty="0"/>
          </a:p>
        </p:txBody>
      </p:sp>
      <p:sp>
        <p:nvSpPr>
          <p:cNvPr id="10" name="Chain stop AI"/>
          <p:cNvSpPr/>
          <p:nvPr/>
        </p:nvSpPr>
        <p:spPr>
          <a:xfrm>
            <a:off x="2423160" y="1463040"/>
            <a:ext cx="548640" cy="548640"/>
          </a:xfrm>
          <a:prstGeom prst="ellipse">
            <a:avLst/>
          </a:prstGeom>
          <a:solidFill>
            <a:schemeClr val="bg1"/>
          </a:solidFill>
          <a:ln w="31750">
            <a:solidFill>
              <a:schemeClr val="accent2"/>
            </a:solidFill>
            <a:prstDash val="solid"/>
          </a:ln>
        </p:spPr>
      </p:sp>
      <p:sp>
        <p:nvSpPr>
          <p:cNvPr id="11" name="Chain code AI"/>
          <p:cNvSpPr txBox="1"/>
          <p:nvPr/>
        </p:nvSpPr>
        <p:spPr>
          <a:xfrm>
            <a:off x="2423160" y="14630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rPr>
              <a:t>AI</a:t>
            </a:r>
            <a:endParaRPr lang="en-US" sz="1400" dirty="0"/>
          </a:p>
        </p:txBody>
      </p:sp>
      <p:sp>
        <p:nvSpPr>
          <p:cNvPr id="12" name="Chain name AI"/>
          <p:cNvSpPr txBox="1"/>
          <p:nvPr/>
        </p:nvSpPr>
        <p:spPr>
          <a:xfrm>
            <a:off x="2057400" y="2084832"/>
            <a:ext cx="1280160" cy="274320"/>
          </a:xfrm>
          <a:prstGeom prst="rect">
            <a:avLst/>
          </a:prstGeom>
          <a:noFill/>
          <a:ln/>
        </p:spPr>
        <p:txBody>
          <a:bodyPr wrap="square" lIns="0" tIns="0" rIns="0" bIns="0" rtlCol="0" anchor="ctr"/>
          <a:lstStyle/>
          <a:p>
            <a:pPr algn="ctr" indent="0" marL="0">
              <a:buNone/>
            </a:pPr>
            <a:r>
              <a:rPr lang="en-US" sz="1400" dirty="0">
                <a:solidFill>
                  <a:schemeClr val="tx1"/>
                </a:solidFill>
              </a:rPr>
              <a:t>AI Research</a:t>
            </a:r>
            <a:endParaRPr lang="en-US" sz="1400" dirty="0"/>
          </a:p>
        </p:txBody>
      </p:sp>
      <p:sp>
        <p:nvSpPr>
          <p:cNvPr id="13" name="Chain road 3"/>
          <p:cNvSpPr/>
          <p:nvPr/>
        </p:nvSpPr>
        <p:spPr>
          <a:xfrm>
            <a:off x="4846320" y="1737360"/>
            <a:ext cx="1325880" cy="0"/>
          </a:xfrm>
          <a:prstGeom prst="line">
            <a:avLst/>
          </a:prstGeom>
          <a:noFill/>
          <a:ln w="50800">
            <a:solidFill>
              <a:schemeClr val="accent2"/>
            </a:solidFill>
            <a:prstDash val="solid"/>
          </a:ln>
        </p:spPr>
      </p:sp>
      <p:sp>
        <p:nvSpPr>
          <p:cNvPr id="14" name="Chain weight 3"/>
          <p:cNvSpPr txBox="1"/>
          <p:nvPr/>
        </p:nvSpPr>
        <p:spPr>
          <a:xfrm>
            <a:off x="4846320" y="1371600"/>
            <a:ext cx="1325880" cy="274320"/>
          </a:xfrm>
          <a:prstGeom prst="rect">
            <a:avLst/>
          </a:prstGeom>
          <a:noFill/>
          <a:ln/>
        </p:spPr>
        <p:txBody>
          <a:bodyPr wrap="square" lIns="0" tIns="0" rIns="0" bIns="0" rtlCol="0" anchor="ctr"/>
          <a:lstStyle/>
          <a:p>
            <a:pPr algn="ctr" indent="0" marL="0">
              <a:buNone/>
            </a:pPr>
            <a:r>
              <a:rPr lang="en-US" sz="1400" b="1" dirty="0">
                <a:solidFill>
                  <a:schemeClr val="accent2"/>
                </a:solidFill>
              </a:rPr>
              <a:t>2 min</a:t>
            </a:r>
            <a:endParaRPr lang="en-US" sz="1400" dirty="0"/>
          </a:p>
        </p:txBody>
      </p:sp>
      <p:sp>
        <p:nvSpPr>
          <p:cNvPr id="15" name="Chain stop AB"/>
          <p:cNvSpPr/>
          <p:nvPr/>
        </p:nvSpPr>
        <p:spPr>
          <a:xfrm>
            <a:off x="4297680" y="1463040"/>
            <a:ext cx="548640" cy="548640"/>
          </a:xfrm>
          <a:prstGeom prst="ellipse">
            <a:avLst/>
          </a:prstGeom>
          <a:solidFill>
            <a:schemeClr val="bg1"/>
          </a:solidFill>
          <a:ln w="31750">
            <a:solidFill>
              <a:schemeClr val="accent2"/>
            </a:solidFill>
            <a:prstDash val="solid"/>
          </a:ln>
        </p:spPr>
      </p:sp>
      <p:sp>
        <p:nvSpPr>
          <p:cNvPr id="16" name="Chain code AB"/>
          <p:cNvSpPr txBox="1"/>
          <p:nvPr/>
        </p:nvSpPr>
        <p:spPr>
          <a:xfrm>
            <a:off x="4297680" y="14630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rPr>
              <a:t>AB</a:t>
            </a:r>
            <a:endParaRPr lang="en-US" sz="1400" dirty="0"/>
          </a:p>
        </p:txBody>
      </p:sp>
      <p:sp>
        <p:nvSpPr>
          <p:cNvPr id="17" name="Chain name AB"/>
          <p:cNvSpPr txBox="1"/>
          <p:nvPr/>
        </p:nvSpPr>
        <p:spPr>
          <a:xfrm>
            <a:off x="3931920" y="2084832"/>
            <a:ext cx="1280160" cy="274320"/>
          </a:xfrm>
          <a:prstGeom prst="rect">
            <a:avLst/>
          </a:prstGeom>
          <a:noFill/>
          <a:ln/>
        </p:spPr>
        <p:txBody>
          <a:bodyPr wrap="square" lIns="0" tIns="0" rIns="0" bIns="0" rtlCol="0" anchor="ctr"/>
          <a:lstStyle/>
          <a:p>
            <a:pPr algn="ctr" indent="0" marL="0">
              <a:buNone/>
            </a:pPr>
            <a:r>
              <a:rPr lang="en-US" sz="1400" dirty="0">
                <a:solidFill>
                  <a:schemeClr val="tx1"/>
                </a:solidFill>
              </a:rPr>
              <a:t>Admin Block</a:t>
            </a:r>
            <a:endParaRPr lang="en-US" sz="1400" dirty="0"/>
          </a:p>
        </p:txBody>
      </p:sp>
      <p:sp>
        <p:nvSpPr>
          <p:cNvPr id="18" name="Chain road 4"/>
          <p:cNvSpPr/>
          <p:nvPr/>
        </p:nvSpPr>
        <p:spPr>
          <a:xfrm>
            <a:off x="6720840" y="1737360"/>
            <a:ext cx="1325880" cy="0"/>
          </a:xfrm>
          <a:prstGeom prst="line">
            <a:avLst/>
          </a:prstGeom>
          <a:noFill/>
          <a:ln w="50800">
            <a:solidFill>
              <a:schemeClr val="accent2"/>
            </a:solidFill>
            <a:prstDash val="solid"/>
          </a:ln>
        </p:spPr>
      </p:sp>
      <p:sp>
        <p:nvSpPr>
          <p:cNvPr id="19" name="Chain weight 4"/>
          <p:cNvSpPr txBox="1"/>
          <p:nvPr/>
        </p:nvSpPr>
        <p:spPr>
          <a:xfrm>
            <a:off x="6720840" y="1371600"/>
            <a:ext cx="1325880" cy="274320"/>
          </a:xfrm>
          <a:prstGeom prst="rect">
            <a:avLst/>
          </a:prstGeom>
          <a:noFill/>
          <a:ln/>
        </p:spPr>
        <p:txBody>
          <a:bodyPr wrap="square" lIns="0" tIns="0" rIns="0" bIns="0" rtlCol="0" anchor="ctr"/>
          <a:lstStyle/>
          <a:p>
            <a:pPr algn="ctr" indent="0" marL="0">
              <a:buNone/>
            </a:pPr>
            <a:r>
              <a:rPr lang="en-US" sz="1400" b="1" dirty="0">
                <a:solidFill>
                  <a:schemeClr val="accent2"/>
                </a:solidFill>
              </a:rPr>
              <a:t>5 min</a:t>
            </a:r>
            <a:endParaRPr lang="en-US" sz="1400" dirty="0"/>
          </a:p>
        </p:txBody>
      </p:sp>
      <p:sp>
        <p:nvSpPr>
          <p:cNvPr id="20" name="Chain stop LB"/>
          <p:cNvSpPr/>
          <p:nvPr/>
        </p:nvSpPr>
        <p:spPr>
          <a:xfrm>
            <a:off x="6172200" y="1463040"/>
            <a:ext cx="548640" cy="548640"/>
          </a:xfrm>
          <a:prstGeom prst="ellipse">
            <a:avLst/>
          </a:prstGeom>
          <a:solidFill>
            <a:schemeClr val="bg1"/>
          </a:solidFill>
          <a:ln w="31750">
            <a:solidFill>
              <a:schemeClr val="accent2"/>
            </a:solidFill>
            <a:prstDash val="solid"/>
          </a:ln>
        </p:spPr>
      </p:sp>
      <p:sp>
        <p:nvSpPr>
          <p:cNvPr id="21" name="Chain code LB"/>
          <p:cNvSpPr txBox="1"/>
          <p:nvPr/>
        </p:nvSpPr>
        <p:spPr>
          <a:xfrm>
            <a:off x="6172200" y="1463040"/>
            <a:ext cx="548640" cy="548640"/>
          </a:xfrm>
          <a:prstGeom prst="rect">
            <a:avLst/>
          </a:prstGeom>
          <a:noFill/>
          <a:ln/>
        </p:spPr>
        <p:txBody>
          <a:bodyPr wrap="square" lIns="0" tIns="0" rIns="0" bIns="0" rtlCol="0" anchor="ctr"/>
          <a:lstStyle/>
          <a:p>
            <a:pPr algn="ctr" indent="0" marL="0">
              <a:buNone/>
            </a:pPr>
            <a:r>
              <a:rPr lang="en-US" sz="1400" b="1" dirty="0">
                <a:solidFill>
                  <a:schemeClr val="tx1"/>
                </a:solidFill>
              </a:rPr>
              <a:t>LB</a:t>
            </a:r>
            <a:endParaRPr lang="en-US" sz="1400" dirty="0"/>
          </a:p>
        </p:txBody>
      </p:sp>
      <p:sp>
        <p:nvSpPr>
          <p:cNvPr id="22" name="Chain name LB"/>
          <p:cNvSpPr txBox="1"/>
          <p:nvPr/>
        </p:nvSpPr>
        <p:spPr>
          <a:xfrm>
            <a:off x="5806440" y="2084832"/>
            <a:ext cx="1280160" cy="274320"/>
          </a:xfrm>
          <a:prstGeom prst="rect">
            <a:avLst/>
          </a:prstGeom>
          <a:noFill/>
          <a:ln/>
        </p:spPr>
        <p:txBody>
          <a:bodyPr wrap="square" lIns="0" tIns="0" rIns="0" bIns="0" rtlCol="0" anchor="ctr"/>
          <a:lstStyle/>
          <a:p>
            <a:pPr algn="ctr" indent="0" marL="0">
              <a:buNone/>
            </a:pPr>
            <a:r>
              <a:rPr lang="en-US" sz="1400" dirty="0">
                <a:solidFill>
                  <a:schemeClr val="tx1"/>
                </a:solidFill>
              </a:rPr>
              <a:t>Library</a:t>
            </a:r>
            <a:endParaRPr lang="en-US" sz="1400" dirty="0"/>
          </a:p>
        </p:txBody>
      </p:sp>
      <p:sp>
        <p:nvSpPr>
          <p:cNvPr id="23" name="Chain stop T5"/>
          <p:cNvSpPr/>
          <p:nvPr/>
        </p:nvSpPr>
        <p:spPr>
          <a:xfrm>
            <a:off x="8046720" y="1463040"/>
            <a:ext cx="548640" cy="548640"/>
          </a:xfrm>
          <a:prstGeom prst="ellipse">
            <a:avLst/>
          </a:prstGeom>
          <a:solidFill>
            <a:schemeClr val="accent1"/>
          </a:solidFill>
          <a:ln w="31750">
            <a:solidFill>
              <a:schemeClr val="accent2"/>
            </a:solidFill>
            <a:prstDash val="solid"/>
          </a:ln>
        </p:spPr>
      </p:sp>
      <p:sp>
        <p:nvSpPr>
          <p:cNvPr id="24" name="Chain code T5"/>
          <p:cNvSpPr txBox="1"/>
          <p:nvPr/>
        </p:nvSpPr>
        <p:spPr>
          <a:xfrm>
            <a:off x="8046720" y="14630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T5</a:t>
            </a:r>
            <a:endParaRPr lang="en-US" sz="1400" dirty="0"/>
          </a:p>
        </p:txBody>
      </p:sp>
      <p:sp>
        <p:nvSpPr>
          <p:cNvPr id="25" name="Chain name T5"/>
          <p:cNvSpPr txBox="1"/>
          <p:nvPr/>
        </p:nvSpPr>
        <p:spPr>
          <a:xfrm>
            <a:off x="7680960" y="2084832"/>
            <a:ext cx="1280160" cy="274320"/>
          </a:xfrm>
          <a:prstGeom prst="rect">
            <a:avLst/>
          </a:prstGeom>
          <a:noFill/>
          <a:ln/>
        </p:spPr>
        <p:txBody>
          <a:bodyPr wrap="square" lIns="0" tIns="0" rIns="0" bIns="0" rtlCol="0" anchor="ctr"/>
          <a:lstStyle/>
          <a:p>
            <a:pPr algn="ctr" indent="0" marL="0">
              <a:buNone/>
            </a:pPr>
            <a:r>
              <a:rPr lang="en-US" sz="1400" dirty="0">
                <a:solidFill>
                  <a:schemeClr val="tx1"/>
                </a:solidFill>
              </a:rPr>
              <a:t>Tower 5</a:t>
            </a:r>
            <a:endParaRPr lang="en-US" sz="1400" dirty="0"/>
          </a:p>
        </p:txBody>
      </p:sp>
      <p:sp>
        <p:nvSpPr>
          <p:cNvPr id="26" name="Result card"/>
          <p:cNvSpPr/>
          <p:nvPr/>
        </p:nvSpPr>
        <p:spPr>
          <a:xfrm>
            <a:off x="548640" y="2743200"/>
            <a:ext cx="3291840" cy="1874520"/>
          </a:xfrm>
          <a:prstGeom prst="roundRect">
            <a:avLst>
              <a:gd name="adj" fmla="val 3902"/>
            </a:avLst>
          </a:prstGeom>
          <a:solidFill>
            <a:schemeClr val="tx1"/>
          </a:solidFill>
          <a:ln/>
        </p:spPr>
      </p:sp>
      <p:sp>
        <p:nvSpPr>
          <p:cNvPr id="27" name="Result number"/>
          <p:cNvSpPr txBox="1"/>
          <p:nvPr/>
        </p:nvSpPr>
        <p:spPr>
          <a:xfrm>
            <a:off x="777240" y="2834640"/>
            <a:ext cx="1463040" cy="91440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12</a:t>
            </a:r>
            <a:endParaRPr lang="en-US" sz="6600" dirty="0"/>
          </a:p>
        </p:txBody>
      </p:sp>
      <p:sp>
        <p:nvSpPr>
          <p:cNvPr id="28" name="Result unit"/>
          <p:cNvSpPr txBox="1"/>
          <p:nvPr/>
        </p:nvSpPr>
        <p:spPr>
          <a:xfrm>
            <a:off x="2148840" y="3337560"/>
            <a:ext cx="1554480" cy="365760"/>
          </a:xfrm>
          <a:prstGeom prst="rect">
            <a:avLst/>
          </a:prstGeom>
          <a:noFill/>
          <a:ln/>
        </p:spPr>
        <p:txBody>
          <a:bodyPr wrap="square" lIns="0" tIns="0" rIns="0" bIns="0" rtlCol="0" anchor="t"/>
          <a:lstStyle/>
          <a:p>
            <a:pPr indent="0" marL="0">
              <a:buNone/>
            </a:pPr>
            <a:r>
              <a:rPr lang="en-US" sz="1800" dirty="0">
                <a:solidFill>
                  <a:schemeClr val="bg2"/>
                </a:solidFill>
              </a:rPr>
              <a:t>minutes</a:t>
            </a:r>
            <a:endParaRPr lang="en-US" sz="1800" dirty="0"/>
          </a:p>
        </p:txBody>
      </p:sp>
      <p:sp>
        <p:nvSpPr>
          <p:cNvPr id="29" name="Result sum"/>
          <p:cNvSpPr txBox="1"/>
          <p:nvPr/>
        </p:nvSpPr>
        <p:spPr>
          <a:xfrm>
            <a:off x="777240" y="3840480"/>
            <a:ext cx="2880360" cy="640080"/>
          </a:xfrm>
          <a:prstGeom prst="rect">
            <a:avLst/>
          </a:prstGeom>
          <a:noFill/>
          <a:ln/>
        </p:spPr>
        <p:txBody>
          <a:bodyPr wrap="square" lIns="0" tIns="0" rIns="0" bIns="0" rtlCol="0" anchor="t"/>
          <a:lstStyle/>
          <a:p>
            <a:pPr indent="0" marL="0">
              <a:buNone/>
            </a:pPr>
            <a:r>
              <a:rPr lang="en-US" sz="1400" dirty="0">
                <a:solidFill>
                  <a:schemeClr val="bg2"/>
                </a:solidFill>
              </a:rPr>
              <a:t>3 + 2 + 2 + 5 = 12. Floyd–Warshall gives the same value for this pair.</a:t>
            </a:r>
            <a:endParaRPr lang="en-US" sz="1400" dirty="0"/>
          </a:p>
        </p:txBody>
      </p:sp>
      <p:graphicFrame>
        <p:nvGraphicFramePr>
          <p:cNvPr id="9" name="Dijkstra steps"/>
          <p:cNvGraphicFramePr>
            <a:graphicFrameLocks noGrp="1"/>
          </p:cNvGraphicFramePr>
          <p:nvPr>
            <p:extLst>
              <p:ext uri="{D42A27DB-BD31-4B8C-83A1-F6EECF244321}">
                <p14:modId xmlns:p14="http://schemas.microsoft.com/office/powerpoint/2010/main" val="1579011935"/>
              </p:ext>
            </p:extLst>
          </p:nvPr>
        </p:nvGraphicFramePr>
        <p:xfrm>
          <a:off x="4114800" y="2743200"/>
          <a:ext cx="4480560" cy="914400"/>
        </p:xfrm>
        <a:graphic>
          <a:graphicData uri="http://schemas.openxmlformats.org/drawingml/2006/table">
            <a:tbl>
              <a:tblPr/>
              <a:tblGrid>
                <a:gridCol w="731520"/>
                <a:gridCol w="2468880"/>
                <a:gridCol w="1280160"/>
              </a:tblGrid>
              <a:tr h="274320">
                <a:tc>
                  <a:txBody>
                    <a:bodyPr/>
                    <a:lstStyle/>
                    <a:p>
                      <a:pPr algn="l" indent="0" marL="0">
                        <a:buNone/>
                      </a:pPr>
                      <a:r>
                        <a:rPr lang="en-US" sz="1400" b="1" dirty="0">
                          <a:solidFill>
                            <a:schemeClr val="bg1"/>
                          </a:solidFill>
                        </a:rPr>
                        <a:t>Step</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Stop finalised</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Distance</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tx1"/>
                    </a:solidFill>
                  </a:tcPr>
                </a:tc>
              </a:tr>
              <a:tr h="274320">
                <a:tc>
                  <a:txBody>
                    <a:bodyPr/>
                    <a:lstStyle/>
                    <a:p>
                      <a:pPr indent="0" marL="0">
                        <a:buNone/>
                      </a:pPr>
                      <a:r>
                        <a:rPr lang="en-US" sz="1400" dirty="0">
                          <a:solidFill>
                            <a:schemeClr val="tx1"/>
                          </a:solidFill>
                        </a:rPr>
                        <a:t>1</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Main Gate</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0 min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r h="274320">
                <a:tc>
                  <a:txBody>
                    <a:bodyPr/>
                    <a:lstStyle/>
                    <a:p>
                      <a:pPr indent="0" marL="0">
                        <a:buNone/>
                      </a:pPr>
                      <a:r>
                        <a:rPr lang="en-US" sz="1400" dirty="0">
                          <a:solidFill>
                            <a:schemeClr val="tx1"/>
                          </a:solidFill>
                        </a:rPr>
                        <a:t>2</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AI Research</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3 min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r>
              <a:tr h="274320">
                <a:tc>
                  <a:txBody>
                    <a:bodyPr/>
                    <a:lstStyle/>
                    <a:p>
                      <a:pPr indent="0" marL="0">
                        <a:buNone/>
                      </a:pPr>
                      <a:r>
                        <a:rPr lang="en-US" sz="1400" dirty="0">
                          <a:solidFill>
                            <a:schemeClr val="tx1"/>
                          </a:solidFill>
                        </a:rPr>
                        <a:t>3</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Admin Block</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 min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r h="274320">
                <a:tc>
                  <a:txBody>
                    <a:bodyPr/>
                    <a:lstStyle/>
                    <a:p>
                      <a:pPr indent="0" marL="0">
                        <a:buNone/>
                      </a:pPr>
                      <a:r>
                        <a:rPr lang="en-US" sz="1400" dirty="0">
                          <a:solidFill>
                            <a:schemeClr val="tx1"/>
                          </a:solidFill>
                        </a:rPr>
                        <a:t>4</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Architecture</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7 min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1"/>
                    </a:solidFill>
                  </a:tcPr>
                </a:tc>
              </a:tr>
              <a:tr h="274320">
                <a:tc>
                  <a:txBody>
                    <a:bodyPr/>
                    <a:lstStyle/>
                    <a:p>
                      <a:pPr indent="0" marL="0">
                        <a:buNone/>
                      </a:pPr>
                      <a:r>
                        <a:rPr lang="en-US" sz="1400" dirty="0">
                          <a:solidFill>
                            <a:schemeClr val="tx1"/>
                          </a:solidFill>
                        </a:rPr>
                        <a:t>5</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Library</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7 min</a:t>
                      </a:r>
                      <a:endParaRPr lang="en-US" sz="1400" dirty="0"/>
                    </a:p>
                  </a:txBody>
                  <a:tcPr marL="91440" marR="91440" marT="0" marB="0" anchor="ctr">
                    <a:lnL w="9525" cap="flat" cmpd="sng" algn="ctr">
                      <a:solidFill>
                        <a:srgbClr val="D5D8E4"/>
                      </a:solidFill>
                      <a:prstDash val="solid"/>
                      <a:round/>
                      <a:headEnd type="none" w="med" len="med"/>
                      <a:tailEnd type="none" w="med" len="med"/>
                    </a:lnL>
                    <a:lnR w="9525" cap="flat" cmpd="sng" algn="ctr">
                      <a:solidFill>
                        <a:srgbClr val="D5D8E4"/>
                      </a:solidFill>
                      <a:prstDash val="solid"/>
                      <a:round/>
                      <a:headEnd type="none" w="med" len="med"/>
                      <a:tailEnd type="none" w="med" len="med"/>
                    </a:lnR>
                    <a:lnT w="9525" cap="flat" cmpd="sng" algn="ctr">
                      <a:solidFill>
                        <a:srgbClr val="D5D8E4"/>
                      </a:solidFill>
                      <a:prstDash val="solid"/>
                      <a:round/>
                      <a:headEnd type="none" w="med" len="med"/>
                      <a:tailEnd type="none" w="med" len="med"/>
                    </a:lnT>
                    <a:lnB w="9525" cap="flat" cmpd="sng" algn="ctr">
                      <a:solidFill>
                        <a:srgbClr val="D5D8E4"/>
                      </a:solidFill>
                      <a:prstDash val="solid"/>
                      <a:round/>
                      <a:headEnd type="none" w="med" len="med"/>
                      <a:tailEnd type="none" w="med" len="med"/>
                    </a:lnB>
                    <a:solidFill>
                      <a:schemeClr val="bg2"/>
                    </a:solidFill>
                  </a:tcPr>
                </a:tc>
              </a:tr>
            </a:tbl>
          </a:graphicData>
        </a:graphic>
      </p:graphicFrame>
      <p:sp>
        <p:nvSpPr>
          <p:cNvPr id="31" name="Dijkstra caption"/>
          <p:cNvSpPr txBox="1"/>
          <p:nvPr/>
        </p:nvSpPr>
        <p:spPr>
          <a:xfrm>
            <a:off x="4114800" y="4434840"/>
            <a:ext cx="4480560" cy="228600"/>
          </a:xfrm>
          <a:prstGeom prst="rect">
            <a:avLst/>
          </a:prstGeom>
          <a:noFill/>
          <a:ln/>
        </p:spPr>
        <p:txBody>
          <a:bodyPr wrap="square" lIns="0" tIns="0" rIns="0" bIns="0" rtlCol="0" anchor="t"/>
          <a:lstStyle/>
          <a:p>
            <a:pPr indent="0" marL="0">
              <a:buNone/>
            </a:pPr>
            <a:r>
              <a:rPr lang="en-US" sz="1000" dirty="0">
                <a:solidFill>
                  <a:schemeClr val="tx2"/>
                </a:solidFill>
              </a:rPr>
              <a:t>First five stops finalised by Dijkstra from Main Gate</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Results on the Woxsen dataset</a:t>
            </a:r>
            <a:endParaRPr lang="en-US" sz="3200" dirty="0"/>
          </a:p>
        </p:txBody>
      </p:sp>
      <p:sp>
        <p:nvSpPr>
          <p:cNvPr id="3" name="Stat card 1"/>
          <p:cNvSpPr/>
          <p:nvPr/>
        </p:nvSpPr>
        <p:spPr>
          <a:xfrm>
            <a:off x="548640" y="1234440"/>
            <a:ext cx="1874520" cy="1188720"/>
          </a:xfrm>
          <a:prstGeom prst="roundRect">
            <a:avLst>
              <a:gd name="adj" fmla="val 6154"/>
            </a:avLst>
          </a:prstGeom>
          <a:solidFill>
            <a:schemeClr val="bg2"/>
          </a:solidFill>
          <a:ln/>
        </p:spPr>
      </p:sp>
      <p:sp>
        <p:nvSpPr>
          <p:cNvPr id="4" name="Stat value 1"/>
          <p:cNvSpPr txBox="1"/>
          <p:nvPr/>
        </p:nvSpPr>
        <p:spPr>
          <a:xfrm>
            <a:off x="685800" y="1298448"/>
            <a:ext cx="164592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12 min</a:t>
            </a:r>
            <a:endParaRPr lang="en-US" sz="2800" dirty="0"/>
          </a:p>
        </p:txBody>
      </p:sp>
      <p:sp>
        <p:nvSpPr>
          <p:cNvPr id="5" name="Stat label 1"/>
          <p:cNvSpPr txBox="1"/>
          <p:nvPr/>
        </p:nvSpPr>
        <p:spPr>
          <a:xfrm>
            <a:off x="685800" y="1847088"/>
            <a:ext cx="1645920" cy="548640"/>
          </a:xfrm>
          <a:prstGeom prst="rect">
            <a:avLst/>
          </a:prstGeom>
          <a:noFill/>
          <a:ln/>
        </p:spPr>
        <p:txBody>
          <a:bodyPr wrap="square" lIns="0" tIns="0" rIns="0" bIns="0" rtlCol="0" anchor="t"/>
          <a:lstStyle/>
          <a:p>
            <a:pPr indent="0" marL="0">
              <a:buNone/>
            </a:pPr>
            <a:r>
              <a:rPr lang="en-US" sz="1200" dirty="0">
                <a:solidFill>
                  <a:schemeClr val="tx2"/>
                </a:solidFill>
              </a:rPr>
              <a:t>Shortest route, Main Gate to Tower 5</a:t>
            </a:r>
            <a:endParaRPr lang="en-US" sz="1200" dirty="0"/>
          </a:p>
        </p:txBody>
      </p:sp>
      <p:sp>
        <p:nvSpPr>
          <p:cNvPr id="6" name="Stat card 2"/>
          <p:cNvSpPr/>
          <p:nvPr/>
        </p:nvSpPr>
        <p:spPr>
          <a:xfrm>
            <a:off x="2606040" y="1234440"/>
            <a:ext cx="1874520" cy="1188720"/>
          </a:xfrm>
          <a:prstGeom prst="roundRect">
            <a:avLst>
              <a:gd name="adj" fmla="val 6154"/>
            </a:avLst>
          </a:prstGeom>
          <a:solidFill>
            <a:schemeClr val="bg2"/>
          </a:solidFill>
          <a:ln/>
        </p:spPr>
      </p:sp>
      <p:sp>
        <p:nvSpPr>
          <p:cNvPr id="7" name="Stat value 2"/>
          <p:cNvSpPr txBox="1"/>
          <p:nvPr/>
        </p:nvSpPr>
        <p:spPr>
          <a:xfrm>
            <a:off x="2743200" y="1298448"/>
            <a:ext cx="1645920" cy="54864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31</a:t>
            </a:r>
            <a:endParaRPr lang="en-US" sz="2800" dirty="0"/>
          </a:p>
        </p:txBody>
      </p:sp>
      <p:sp>
        <p:nvSpPr>
          <p:cNvPr id="8" name="Stat label 2"/>
          <p:cNvSpPr txBox="1"/>
          <p:nvPr/>
        </p:nvSpPr>
        <p:spPr>
          <a:xfrm>
            <a:off x="2743200" y="1847088"/>
            <a:ext cx="1645920" cy="548640"/>
          </a:xfrm>
          <a:prstGeom prst="rect">
            <a:avLst/>
          </a:prstGeom>
          <a:noFill/>
          <a:ln/>
        </p:spPr>
        <p:txBody>
          <a:bodyPr wrap="square" lIns="0" tIns="0" rIns="0" bIns="0" rtlCol="0" anchor="t"/>
          <a:lstStyle/>
          <a:p>
            <a:pPr indent="0" marL="0">
              <a:buNone/>
            </a:pPr>
            <a:r>
              <a:rPr lang="en-US" sz="1200" dirty="0">
                <a:solidFill>
                  <a:schemeClr val="tx2"/>
                </a:solidFill>
              </a:rPr>
              <a:t>Minimum network weight, 11 roads</a:t>
            </a:r>
            <a:endParaRPr lang="en-US" sz="1200" dirty="0"/>
          </a:p>
        </p:txBody>
      </p:sp>
      <p:sp>
        <p:nvSpPr>
          <p:cNvPr id="9" name="Stat card 3"/>
          <p:cNvSpPr/>
          <p:nvPr/>
        </p:nvSpPr>
        <p:spPr>
          <a:xfrm>
            <a:off x="4663440" y="1234440"/>
            <a:ext cx="1874520" cy="1188720"/>
          </a:xfrm>
          <a:prstGeom prst="roundRect">
            <a:avLst>
              <a:gd name="adj" fmla="val 6154"/>
            </a:avLst>
          </a:prstGeom>
          <a:solidFill>
            <a:schemeClr val="bg2"/>
          </a:solidFill>
          <a:ln/>
        </p:spPr>
      </p:sp>
      <p:sp>
        <p:nvSpPr>
          <p:cNvPr id="10" name="Stat value 3"/>
          <p:cNvSpPr txBox="1"/>
          <p:nvPr/>
        </p:nvSpPr>
        <p:spPr>
          <a:xfrm>
            <a:off x="4800600" y="1298448"/>
            <a:ext cx="164592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4 of 10</a:t>
            </a:r>
            <a:endParaRPr lang="en-US" sz="2800" dirty="0"/>
          </a:p>
        </p:txBody>
      </p:sp>
      <p:sp>
        <p:nvSpPr>
          <p:cNvPr id="11" name="Stat label 3"/>
          <p:cNvSpPr txBox="1"/>
          <p:nvPr/>
        </p:nvSpPr>
        <p:spPr>
          <a:xfrm>
            <a:off x="4800600" y="1847088"/>
            <a:ext cx="1645920" cy="548640"/>
          </a:xfrm>
          <a:prstGeom prst="rect">
            <a:avLst/>
          </a:prstGeom>
          <a:noFill/>
          <a:ln/>
        </p:spPr>
        <p:txBody>
          <a:bodyPr wrap="square" lIns="0" tIns="0" rIns="0" bIns="0" rtlCol="0" anchor="t"/>
          <a:lstStyle/>
          <a:p>
            <a:pPr indent="0" marL="0">
              <a:buNone/>
            </a:pPr>
            <a:r>
              <a:rPr lang="en-US" sz="1200" dirty="0">
                <a:solidFill>
                  <a:schemeClr val="tx2"/>
                </a:solidFill>
              </a:rPr>
              <a:t>Non-overlapping trips selected</a:t>
            </a:r>
            <a:endParaRPr lang="en-US" sz="1200" dirty="0"/>
          </a:p>
        </p:txBody>
      </p:sp>
      <p:sp>
        <p:nvSpPr>
          <p:cNvPr id="12" name="Stat card 4"/>
          <p:cNvSpPr/>
          <p:nvPr/>
        </p:nvSpPr>
        <p:spPr>
          <a:xfrm>
            <a:off x="6720840" y="1234440"/>
            <a:ext cx="1874520" cy="1188720"/>
          </a:xfrm>
          <a:prstGeom prst="roundRect">
            <a:avLst>
              <a:gd name="adj" fmla="val 6154"/>
            </a:avLst>
          </a:prstGeom>
          <a:solidFill>
            <a:schemeClr val="bg2"/>
          </a:solidFill>
          <a:ln/>
        </p:spPr>
      </p:sp>
      <p:sp>
        <p:nvSpPr>
          <p:cNvPr id="13" name="Stat value 4"/>
          <p:cNvSpPr txBox="1"/>
          <p:nvPr/>
        </p:nvSpPr>
        <p:spPr>
          <a:xfrm>
            <a:off x="6858000" y="1298448"/>
            <a:ext cx="16459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38 / 40</a:t>
            </a:r>
            <a:endParaRPr lang="en-US" sz="2800" dirty="0"/>
          </a:p>
        </p:txBody>
      </p:sp>
      <p:sp>
        <p:nvSpPr>
          <p:cNvPr id="14" name="Stat label 4"/>
          <p:cNvSpPr txBox="1"/>
          <p:nvPr/>
        </p:nvSpPr>
        <p:spPr>
          <a:xfrm>
            <a:off x="6858000" y="1847088"/>
            <a:ext cx="1645920" cy="548640"/>
          </a:xfrm>
          <a:prstGeom prst="rect">
            <a:avLst/>
          </a:prstGeom>
          <a:noFill/>
          <a:ln/>
        </p:spPr>
        <p:txBody>
          <a:bodyPr wrap="square" lIns="0" tIns="0" rIns="0" bIns="0" rtlCol="0" anchor="t"/>
          <a:lstStyle/>
          <a:p>
            <a:pPr indent="0" marL="0">
              <a:buNone/>
            </a:pPr>
            <a:r>
              <a:rPr lang="en-US" sz="1200" dirty="0">
                <a:solidFill>
                  <a:schemeClr val="tx2"/>
                </a:solidFill>
              </a:rPr>
              <a:t>0/1 knapsack seats used, whole groups</a:t>
            </a:r>
            <a:endParaRPr lang="en-US" sz="1200" dirty="0"/>
          </a:p>
        </p:txBody>
      </p:sp>
      <p:graphicFrame>
        <p:nvGraphicFramePr>
          <p:cNvPr id="15" name="Chart 0" descr=""/>
          <p:cNvGraphicFramePr/>
          <p:nvPr/>
        </p:nvGraphicFramePr>
        <p:xfrm>
          <a:off x="457200" y="2514600"/>
          <a:ext cx="5120640" cy="2240280"/>
        </p:xfrm>
        <a:graphic xmlns:a="http://schemas.openxmlformats.org/drawingml/2006/main">
          <a:graphicData uri="http://schemas.openxmlformats.org/drawingml/2006/chart">
            <c:chart xmlns:c="http://schemas.openxmlformats.org/drawingml/2006/chart" r:id="rId1"/>
          </a:graphicData>
        </a:graphic>
      </p:graphicFrame>
      <p:sp>
        <p:nvSpPr>
          <p:cNvPr id="16" name="Knapsack card"/>
          <p:cNvSpPr/>
          <p:nvPr/>
        </p:nvSpPr>
        <p:spPr>
          <a:xfrm>
            <a:off x="5760720" y="2560320"/>
            <a:ext cx="2834640" cy="2148840"/>
          </a:xfrm>
          <a:prstGeom prst="roundRect">
            <a:avLst>
              <a:gd name="adj" fmla="val 3404"/>
            </a:avLst>
          </a:prstGeom>
          <a:solidFill>
            <a:schemeClr val="tx1"/>
          </a:solidFill>
          <a:ln/>
        </p:spPr>
      </p:sp>
      <p:sp>
        <p:nvSpPr>
          <p:cNvPr id="17" name="Knapsack heading"/>
          <p:cNvSpPr txBox="1"/>
          <p:nvPr/>
        </p:nvSpPr>
        <p:spPr>
          <a:xfrm>
            <a:off x="5943600" y="2670048"/>
            <a:ext cx="2514600" cy="457200"/>
          </a:xfrm>
          <a:prstGeom prst="rect">
            <a:avLst/>
          </a:prstGeom>
          <a:noFill/>
          <a:ln/>
        </p:spPr>
        <p:txBody>
          <a:bodyPr wrap="square" lIns="0" tIns="0" rIns="0" bIns="0" rtlCol="0" anchor="t"/>
          <a:lstStyle/>
          <a:p>
            <a:pPr indent="0" marL="0">
              <a:buNone/>
            </a:pPr>
            <a:r>
              <a:rPr lang="en-US" sz="1400" b="1" dirty="0">
                <a:solidFill>
                  <a:schemeClr val="bg1"/>
                </a:solidFill>
              </a:rPr>
              <a:t>Splitting groups vs whole groups</a:t>
            </a:r>
            <a:endParaRPr lang="en-US" sz="1400" dirty="0"/>
          </a:p>
        </p:txBody>
      </p:sp>
      <p:sp>
        <p:nvSpPr>
          <p:cNvPr id="18" name="Knapsack text"/>
          <p:cNvSpPr txBox="1"/>
          <p:nvPr/>
        </p:nvSpPr>
        <p:spPr>
          <a:xfrm>
            <a:off x="5943600" y="3154680"/>
            <a:ext cx="251460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bg2"/>
                </a:solidFill>
              </a:rPr>
              <a:t>Fractional: value 346, upper bound</a:t>
            </a:r>
            <a:endParaRPr lang="en-US" sz="1200" dirty="0"/>
          </a:p>
          <a:p>
            <a:pPr marL="342900" indent="-342900">
              <a:spcAft>
                <a:spcPts val="400"/>
              </a:spcAft>
              <a:buSzPct val="100000"/>
              <a:buChar char="•"/>
            </a:pPr>
            <a:r>
              <a:rPr lang="en-US" sz="1200" dirty="0">
                <a:solidFill>
                  <a:schemeClr val="bg2"/>
                </a:solidFill>
              </a:rPr>
              <a:t>0/1: value 294, boards Tower 5 and The Oval</a:t>
            </a:r>
            <a:endParaRPr lang="en-US" sz="1200" dirty="0"/>
          </a:p>
          <a:p>
            <a:pPr marL="342900" indent="-342900">
              <a:spcAft>
                <a:spcPts val="400"/>
              </a:spcAft>
              <a:buSzPct val="100000"/>
              <a:buChar char="•"/>
            </a:pPr>
            <a:r>
              <a:rPr lang="en-US" sz="1200" dirty="0">
                <a:solidFill>
                  <a:schemeClr val="bg2"/>
                </a:solidFill>
              </a:rPr>
              <a:t>Whole groups are realistic; splitting is the bound</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Checking results independently</a:t>
            </a:r>
            <a:endParaRPr lang="en-US" sz="3200" dirty="0"/>
          </a:p>
        </p:txBody>
      </p:sp>
      <p:sp>
        <p:nvSpPr>
          <p:cNvPr id="3" name="Check icon 1"/>
          <p:cNvSpPr/>
          <p:nvPr/>
        </p:nvSpPr>
        <p:spPr>
          <a:xfrm>
            <a:off x="548640" y="1298448"/>
            <a:ext cx="365760" cy="365760"/>
          </a:xfrm>
          <a:prstGeom prst="ellipse">
            <a:avLst/>
          </a:prstGeom>
          <a:solidFill>
            <a:srgbClr val="1B7F47"/>
          </a:solidFill>
          <a:ln/>
        </p:spPr>
      </p:sp>
      <p:pic>
        <p:nvPicPr>
          <p:cNvPr id="4" name="Image 0" descr="Check icon 1">    </p:cNvPr>
          <p:cNvPicPr>
            <a:picLocks noChangeAspect="1"/>
          </p:cNvPicPr>
          <p:nvPr/>
        </p:nvPicPr>
        <p:blipFill>
          <a:blip r:embed="rId1"/>
          <a:stretch>
            <a:fillRect/>
          </a:stretch>
        </p:blipFill>
        <p:spPr>
          <a:xfrm>
            <a:off x="640080" y="1389888"/>
            <a:ext cx="182880" cy="182880"/>
          </a:xfrm>
          <a:prstGeom prst="rect">
            <a:avLst/>
          </a:prstGeom>
        </p:spPr>
      </p:pic>
      <p:sp>
        <p:nvSpPr>
          <p:cNvPr id="5" name="Check title 1"/>
          <p:cNvSpPr txBox="1"/>
          <p:nvPr/>
        </p:nvSpPr>
        <p:spPr>
          <a:xfrm>
            <a:off x="1051560" y="1280160"/>
            <a:ext cx="3931920" cy="237744"/>
          </a:xfrm>
          <a:prstGeom prst="rect">
            <a:avLst/>
          </a:prstGeom>
          <a:noFill/>
          <a:ln/>
        </p:spPr>
        <p:txBody>
          <a:bodyPr wrap="square" lIns="0" tIns="0" rIns="0" bIns="0" rtlCol="0" anchor="t"/>
          <a:lstStyle/>
          <a:p>
            <a:pPr indent="0" marL="0">
              <a:buNone/>
            </a:pPr>
            <a:r>
              <a:rPr lang="en-US" sz="1400" b="1" dirty="0">
                <a:solidFill>
                  <a:schemeClr val="tx1"/>
                </a:solidFill>
              </a:rPr>
              <a:t>Dijkstra agrees with Floyd–Warshall</a:t>
            </a:r>
            <a:endParaRPr lang="en-US" sz="1400" dirty="0"/>
          </a:p>
        </p:txBody>
      </p:sp>
      <p:sp>
        <p:nvSpPr>
          <p:cNvPr id="6" name="Check text 1"/>
          <p:cNvSpPr txBox="1"/>
          <p:nvPr/>
        </p:nvSpPr>
        <p:spPr>
          <a:xfrm>
            <a:off x="1051560" y="1517904"/>
            <a:ext cx="3931920" cy="219456"/>
          </a:xfrm>
          <a:prstGeom prst="rect">
            <a:avLst/>
          </a:prstGeom>
          <a:noFill/>
          <a:ln/>
        </p:spPr>
        <p:txBody>
          <a:bodyPr wrap="square" lIns="0" tIns="0" rIns="0" bIns="0" rtlCol="0" anchor="t"/>
          <a:lstStyle/>
          <a:p>
            <a:pPr indent="0" marL="0">
              <a:buNone/>
            </a:pPr>
            <a:r>
              <a:rPr lang="en-US" sz="1200" dirty="0">
                <a:solidFill>
                  <a:schemeClr val="tx2"/>
                </a:solidFill>
              </a:rPr>
              <a:t>144 stop pairs, 0 differences</a:t>
            </a:r>
            <a:endParaRPr lang="en-US" sz="1200" dirty="0"/>
          </a:p>
        </p:txBody>
      </p:sp>
      <p:sp>
        <p:nvSpPr>
          <p:cNvPr id="7" name="Check icon 2"/>
          <p:cNvSpPr/>
          <p:nvPr/>
        </p:nvSpPr>
        <p:spPr>
          <a:xfrm>
            <a:off x="548640" y="1847088"/>
            <a:ext cx="365760" cy="365760"/>
          </a:xfrm>
          <a:prstGeom prst="ellipse">
            <a:avLst/>
          </a:prstGeom>
          <a:solidFill>
            <a:srgbClr val="1B7F47"/>
          </a:solidFill>
          <a:ln/>
        </p:spPr>
      </p:sp>
      <p:pic>
        <p:nvPicPr>
          <p:cNvPr id="8" name="Image 1" descr="Check icon 2">    </p:cNvPr>
          <p:cNvPicPr>
            <a:picLocks noChangeAspect="1"/>
          </p:cNvPicPr>
          <p:nvPr/>
        </p:nvPicPr>
        <p:blipFill>
          <a:blip r:embed="rId2"/>
          <a:stretch>
            <a:fillRect/>
          </a:stretch>
        </p:blipFill>
        <p:spPr>
          <a:xfrm>
            <a:off x="640080" y="1938528"/>
            <a:ext cx="182880" cy="182880"/>
          </a:xfrm>
          <a:prstGeom prst="rect">
            <a:avLst/>
          </a:prstGeom>
        </p:spPr>
      </p:pic>
      <p:sp>
        <p:nvSpPr>
          <p:cNvPr id="9" name="Check title 2"/>
          <p:cNvSpPr txBox="1"/>
          <p:nvPr/>
        </p:nvSpPr>
        <p:spPr>
          <a:xfrm>
            <a:off x="1051560" y="1828800"/>
            <a:ext cx="3931920" cy="237744"/>
          </a:xfrm>
          <a:prstGeom prst="rect">
            <a:avLst/>
          </a:prstGeom>
          <a:noFill/>
          <a:ln/>
        </p:spPr>
        <p:txBody>
          <a:bodyPr wrap="square" lIns="0" tIns="0" rIns="0" bIns="0" rtlCol="0" anchor="t"/>
          <a:lstStyle/>
          <a:p>
            <a:pPr indent="0" marL="0">
              <a:buNone/>
            </a:pPr>
            <a:r>
              <a:rPr lang="en-US" sz="1400" b="1" dirty="0">
                <a:solidFill>
                  <a:schemeClr val="tx1"/>
                </a:solidFill>
              </a:rPr>
              <a:t>Route time equals sum of road weights</a:t>
            </a:r>
            <a:endParaRPr lang="en-US" sz="1400" dirty="0"/>
          </a:p>
        </p:txBody>
      </p:sp>
      <p:sp>
        <p:nvSpPr>
          <p:cNvPr id="10" name="Check text 2"/>
          <p:cNvSpPr txBox="1"/>
          <p:nvPr/>
        </p:nvSpPr>
        <p:spPr>
          <a:xfrm>
            <a:off x="1051560" y="2066544"/>
            <a:ext cx="3931920" cy="219456"/>
          </a:xfrm>
          <a:prstGeom prst="rect">
            <a:avLst/>
          </a:prstGeom>
          <a:noFill/>
          <a:ln/>
        </p:spPr>
        <p:txBody>
          <a:bodyPr wrap="square" lIns="0" tIns="0" rIns="0" bIns="0" rtlCol="0" anchor="t"/>
          <a:lstStyle/>
          <a:p>
            <a:pPr indent="0" marL="0">
              <a:buNone/>
            </a:pPr>
            <a:r>
              <a:rPr lang="en-US" sz="1200" dirty="0">
                <a:solidFill>
                  <a:schemeClr val="tx2"/>
                </a:solidFill>
              </a:rPr>
              <a:t>All reconstructed paths checked</a:t>
            </a:r>
            <a:endParaRPr lang="en-US" sz="1200" dirty="0"/>
          </a:p>
        </p:txBody>
      </p:sp>
      <p:sp>
        <p:nvSpPr>
          <p:cNvPr id="11" name="Check icon 3"/>
          <p:cNvSpPr/>
          <p:nvPr/>
        </p:nvSpPr>
        <p:spPr>
          <a:xfrm>
            <a:off x="548640" y="2395728"/>
            <a:ext cx="365760" cy="365760"/>
          </a:xfrm>
          <a:prstGeom prst="ellipse">
            <a:avLst/>
          </a:prstGeom>
          <a:solidFill>
            <a:srgbClr val="1B7F47"/>
          </a:solidFill>
          <a:ln/>
        </p:spPr>
      </p:sp>
      <p:pic>
        <p:nvPicPr>
          <p:cNvPr id="12" name="Image 2" descr="Check icon 3">    </p:cNvPr>
          <p:cNvPicPr>
            <a:picLocks noChangeAspect="1"/>
          </p:cNvPicPr>
          <p:nvPr/>
        </p:nvPicPr>
        <p:blipFill>
          <a:blip r:embed="rId3"/>
          <a:stretch>
            <a:fillRect/>
          </a:stretch>
        </p:blipFill>
        <p:spPr>
          <a:xfrm>
            <a:off x="640080" y="2487168"/>
            <a:ext cx="182880" cy="182880"/>
          </a:xfrm>
          <a:prstGeom prst="rect">
            <a:avLst/>
          </a:prstGeom>
        </p:spPr>
      </p:pic>
      <p:sp>
        <p:nvSpPr>
          <p:cNvPr id="13" name="Check title 3"/>
          <p:cNvSpPr txBox="1"/>
          <p:nvPr/>
        </p:nvSpPr>
        <p:spPr>
          <a:xfrm>
            <a:off x="1051560" y="2377440"/>
            <a:ext cx="3931920" cy="237744"/>
          </a:xfrm>
          <a:prstGeom prst="rect">
            <a:avLst/>
          </a:prstGeom>
          <a:noFill/>
          <a:ln/>
        </p:spPr>
        <p:txBody>
          <a:bodyPr wrap="square" lIns="0" tIns="0" rIns="0" bIns="0" rtlCol="0" anchor="t"/>
          <a:lstStyle/>
          <a:p>
            <a:pPr indent="0" marL="0">
              <a:buNone/>
            </a:pPr>
            <a:r>
              <a:rPr lang="en-US" sz="1400" b="1" dirty="0">
                <a:solidFill>
                  <a:schemeClr val="tx1"/>
                </a:solidFill>
              </a:rPr>
              <a:t>Kruskal result is a spanning tree</a:t>
            </a:r>
            <a:endParaRPr lang="en-US" sz="1400" dirty="0"/>
          </a:p>
        </p:txBody>
      </p:sp>
      <p:sp>
        <p:nvSpPr>
          <p:cNvPr id="14" name="Check text 3"/>
          <p:cNvSpPr txBox="1"/>
          <p:nvPr/>
        </p:nvSpPr>
        <p:spPr>
          <a:xfrm>
            <a:off x="1051560" y="2615184"/>
            <a:ext cx="3931920" cy="219456"/>
          </a:xfrm>
          <a:prstGeom prst="rect">
            <a:avLst/>
          </a:prstGeom>
          <a:noFill/>
          <a:ln/>
        </p:spPr>
        <p:txBody>
          <a:bodyPr wrap="square" lIns="0" tIns="0" rIns="0" bIns="0" rtlCol="0" anchor="t"/>
          <a:lstStyle/>
          <a:p>
            <a:pPr indent="0" marL="0">
              <a:buNone/>
            </a:pPr>
            <a:r>
              <a:rPr lang="en-US" sz="1200" dirty="0">
                <a:solidFill>
                  <a:schemeClr val="tx2"/>
                </a:solidFill>
              </a:rPr>
              <a:t>11 edges, weight 31, matches Prim</a:t>
            </a:r>
            <a:endParaRPr lang="en-US" sz="1200" dirty="0"/>
          </a:p>
        </p:txBody>
      </p:sp>
      <p:sp>
        <p:nvSpPr>
          <p:cNvPr id="15" name="Check icon 4"/>
          <p:cNvSpPr/>
          <p:nvPr/>
        </p:nvSpPr>
        <p:spPr>
          <a:xfrm>
            <a:off x="548640" y="2944368"/>
            <a:ext cx="365760" cy="365760"/>
          </a:xfrm>
          <a:prstGeom prst="ellipse">
            <a:avLst/>
          </a:prstGeom>
          <a:solidFill>
            <a:srgbClr val="1B7F47"/>
          </a:solidFill>
          <a:ln/>
        </p:spPr>
      </p:sp>
      <p:pic>
        <p:nvPicPr>
          <p:cNvPr id="16" name="Image 3" descr="Check icon 4">    </p:cNvPr>
          <p:cNvPicPr>
            <a:picLocks noChangeAspect="1"/>
          </p:cNvPicPr>
          <p:nvPr/>
        </p:nvPicPr>
        <p:blipFill>
          <a:blip r:embed="rId4"/>
          <a:stretch>
            <a:fillRect/>
          </a:stretch>
        </p:blipFill>
        <p:spPr>
          <a:xfrm>
            <a:off x="640080" y="3035808"/>
            <a:ext cx="182880" cy="182880"/>
          </a:xfrm>
          <a:prstGeom prst="rect">
            <a:avLst/>
          </a:prstGeom>
        </p:spPr>
      </p:pic>
      <p:sp>
        <p:nvSpPr>
          <p:cNvPr id="17" name="Check title 4"/>
          <p:cNvSpPr txBox="1"/>
          <p:nvPr/>
        </p:nvSpPr>
        <p:spPr>
          <a:xfrm>
            <a:off x="1051560" y="2926080"/>
            <a:ext cx="3931920" cy="237744"/>
          </a:xfrm>
          <a:prstGeom prst="rect">
            <a:avLst/>
          </a:prstGeom>
          <a:noFill/>
          <a:ln/>
        </p:spPr>
        <p:txBody>
          <a:bodyPr wrap="square" lIns="0" tIns="0" rIns="0" bIns="0" rtlCol="0" anchor="t"/>
          <a:lstStyle/>
          <a:p>
            <a:pPr indent="0" marL="0">
              <a:buNone/>
            </a:pPr>
            <a:r>
              <a:rPr lang="en-US" sz="1400" b="1" dirty="0">
                <a:solidFill>
                  <a:schemeClr val="tx1"/>
                </a:solidFill>
              </a:rPr>
              <a:t>Trips do not overlap and are maximal</a:t>
            </a:r>
            <a:endParaRPr lang="en-US" sz="1400" dirty="0"/>
          </a:p>
        </p:txBody>
      </p:sp>
      <p:sp>
        <p:nvSpPr>
          <p:cNvPr id="18" name="Check text 4"/>
          <p:cNvSpPr txBox="1"/>
          <p:nvPr/>
        </p:nvSpPr>
        <p:spPr>
          <a:xfrm>
            <a:off x="1051560" y="3163824"/>
            <a:ext cx="3931920" cy="219456"/>
          </a:xfrm>
          <a:prstGeom prst="rect">
            <a:avLst/>
          </a:prstGeom>
          <a:noFill/>
          <a:ln/>
        </p:spPr>
        <p:txBody>
          <a:bodyPr wrap="square" lIns="0" tIns="0" rIns="0" bIns="0" rtlCol="0" anchor="t"/>
          <a:lstStyle/>
          <a:p>
            <a:pPr indent="0" marL="0">
              <a:buNone/>
            </a:pPr>
            <a:r>
              <a:rPr lang="en-US" sz="1200" dirty="0">
                <a:solidFill>
                  <a:schemeClr val="tx2"/>
                </a:solidFill>
              </a:rPr>
              <a:t>4 selected, matches a DP maximum</a:t>
            </a:r>
            <a:endParaRPr lang="en-US" sz="1200" dirty="0"/>
          </a:p>
        </p:txBody>
      </p:sp>
      <p:sp>
        <p:nvSpPr>
          <p:cNvPr id="19" name="Check icon 5"/>
          <p:cNvSpPr/>
          <p:nvPr/>
        </p:nvSpPr>
        <p:spPr>
          <a:xfrm>
            <a:off x="548640" y="3493008"/>
            <a:ext cx="365760" cy="365760"/>
          </a:xfrm>
          <a:prstGeom prst="ellipse">
            <a:avLst/>
          </a:prstGeom>
          <a:solidFill>
            <a:srgbClr val="1B7F47"/>
          </a:solidFill>
          <a:ln/>
        </p:spPr>
      </p:sp>
      <p:pic>
        <p:nvPicPr>
          <p:cNvPr id="20" name="Image 4" descr="Check icon 5">    </p:cNvPr>
          <p:cNvPicPr>
            <a:picLocks noChangeAspect="1"/>
          </p:cNvPicPr>
          <p:nvPr/>
        </p:nvPicPr>
        <p:blipFill>
          <a:blip r:embed="rId5"/>
          <a:stretch>
            <a:fillRect/>
          </a:stretch>
        </p:blipFill>
        <p:spPr>
          <a:xfrm>
            <a:off x="640080" y="3584448"/>
            <a:ext cx="182880" cy="182880"/>
          </a:xfrm>
          <a:prstGeom prst="rect">
            <a:avLst/>
          </a:prstGeom>
        </p:spPr>
      </p:pic>
      <p:sp>
        <p:nvSpPr>
          <p:cNvPr id="21" name="Check title 5"/>
          <p:cNvSpPr txBox="1"/>
          <p:nvPr/>
        </p:nvSpPr>
        <p:spPr>
          <a:xfrm>
            <a:off x="1051560" y="3474720"/>
            <a:ext cx="3931920" cy="237744"/>
          </a:xfrm>
          <a:prstGeom prst="rect">
            <a:avLst/>
          </a:prstGeom>
          <a:noFill/>
          <a:ln/>
        </p:spPr>
        <p:txBody>
          <a:bodyPr wrap="square" lIns="0" tIns="0" rIns="0" bIns="0" rtlCol="0" anchor="t"/>
          <a:lstStyle/>
          <a:p>
            <a:pPr indent="0" marL="0">
              <a:buNone/>
            </a:pPr>
            <a:r>
              <a:rPr lang="en-US" sz="1400" b="1" dirty="0">
                <a:solidFill>
                  <a:schemeClr val="tx1"/>
                </a:solidFill>
              </a:rPr>
              <a:t>Seat allocations stay within capacity</a:t>
            </a:r>
            <a:endParaRPr lang="en-US" sz="1400" dirty="0"/>
          </a:p>
        </p:txBody>
      </p:sp>
      <p:sp>
        <p:nvSpPr>
          <p:cNvPr id="22" name="Check text 5"/>
          <p:cNvSpPr txBox="1"/>
          <p:nvPr/>
        </p:nvSpPr>
        <p:spPr>
          <a:xfrm>
            <a:off x="1051560" y="3712464"/>
            <a:ext cx="3931920" cy="219456"/>
          </a:xfrm>
          <a:prstGeom prst="rect">
            <a:avLst/>
          </a:prstGeom>
          <a:noFill/>
          <a:ln/>
        </p:spPr>
        <p:txBody>
          <a:bodyPr wrap="square" lIns="0" tIns="0" rIns="0" bIns="0" rtlCol="0" anchor="t"/>
          <a:lstStyle/>
          <a:p>
            <a:pPr indent="0" marL="0">
              <a:buNone/>
            </a:pPr>
            <a:r>
              <a:rPr lang="en-US" sz="1200" dirty="0">
                <a:solidFill>
                  <a:schemeClr val="tx2"/>
                </a:solidFill>
              </a:rPr>
              <a:t>Fractional and 0/1 both within 40 seats</a:t>
            </a:r>
            <a:endParaRPr lang="en-US" sz="1200" dirty="0"/>
          </a:p>
        </p:txBody>
      </p:sp>
      <p:sp>
        <p:nvSpPr>
          <p:cNvPr id="23" name="Check icon 6"/>
          <p:cNvSpPr/>
          <p:nvPr/>
        </p:nvSpPr>
        <p:spPr>
          <a:xfrm>
            <a:off x="548640" y="4041648"/>
            <a:ext cx="365760" cy="365760"/>
          </a:xfrm>
          <a:prstGeom prst="ellipse">
            <a:avLst/>
          </a:prstGeom>
          <a:solidFill>
            <a:srgbClr val="1B7F47"/>
          </a:solidFill>
          <a:ln/>
        </p:spPr>
      </p:sp>
      <p:pic>
        <p:nvPicPr>
          <p:cNvPr id="24" name="Image 5" descr="Check icon 6">    </p:cNvPr>
          <p:cNvPicPr>
            <a:picLocks noChangeAspect="1"/>
          </p:cNvPicPr>
          <p:nvPr/>
        </p:nvPicPr>
        <p:blipFill>
          <a:blip r:embed="rId6"/>
          <a:stretch>
            <a:fillRect/>
          </a:stretch>
        </p:blipFill>
        <p:spPr>
          <a:xfrm>
            <a:off x="640080" y="4133088"/>
            <a:ext cx="182880" cy="182880"/>
          </a:xfrm>
          <a:prstGeom prst="rect">
            <a:avLst/>
          </a:prstGeom>
        </p:spPr>
      </p:pic>
      <p:sp>
        <p:nvSpPr>
          <p:cNvPr id="25" name="Check title 6"/>
          <p:cNvSpPr txBox="1"/>
          <p:nvPr/>
        </p:nvSpPr>
        <p:spPr>
          <a:xfrm>
            <a:off x="1051560" y="4023360"/>
            <a:ext cx="3931920" cy="237744"/>
          </a:xfrm>
          <a:prstGeom prst="rect">
            <a:avLst/>
          </a:prstGeom>
          <a:noFill/>
          <a:ln/>
        </p:spPr>
        <p:txBody>
          <a:bodyPr wrap="square" lIns="0" tIns="0" rIns="0" bIns="0" rtlCol="0" anchor="t"/>
          <a:lstStyle/>
          <a:p>
            <a:pPr indent="0" marL="0">
              <a:buNone/>
            </a:pPr>
            <a:r>
              <a:rPr lang="en-US" sz="1400" b="1" dirty="0">
                <a:solidFill>
                  <a:schemeClr val="tx1"/>
                </a:solidFill>
              </a:rPr>
              <a:t>0/1 value never beats fractional bound</a:t>
            </a:r>
            <a:endParaRPr lang="en-US" sz="1400" dirty="0"/>
          </a:p>
        </p:txBody>
      </p:sp>
      <p:sp>
        <p:nvSpPr>
          <p:cNvPr id="26" name="Check text 6"/>
          <p:cNvSpPr txBox="1"/>
          <p:nvPr/>
        </p:nvSpPr>
        <p:spPr>
          <a:xfrm>
            <a:off x="1051560" y="4261104"/>
            <a:ext cx="3931920" cy="219456"/>
          </a:xfrm>
          <a:prstGeom prst="rect">
            <a:avLst/>
          </a:prstGeom>
          <a:noFill/>
          <a:ln/>
        </p:spPr>
        <p:txBody>
          <a:bodyPr wrap="square" lIns="0" tIns="0" rIns="0" bIns="0" rtlCol="0" anchor="t"/>
          <a:lstStyle/>
          <a:p>
            <a:pPr indent="0" marL="0">
              <a:buNone/>
            </a:pPr>
            <a:r>
              <a:rPr lang="en-US" sz="1200" dirty="0">
                <a:solidFill>
                  <a:schemeClr val="tx2"/>
                </a:solidFill>
              </a:rPr>
              <a:t>294 is at most 346</a:t>
            </a:r>
            <a:endParaRPr lang="en-US" sz="1200" dirty="0"/>
          </a:p>
        </p:txBody>
      </p:sp>
      <p:pic>
        <p:nvPicPr>
          <p:cNvPr id="27" name="Image 6" descr="Algorithm lab showing selected and skipped trips on a timeline">    </p:cNvPr>
          <p:cNvPicPr>
            <a:picLocks noChangeAspect="1"/>
          </p:cNvPicPr>
          <p:nvPr/>
        </p:nvPicPr>
        <p:blipFill>
          <a:blip r:embed="rId7"/>
          <a:stretch>
            <a:fillRect/>
          </a:stretch>
        </p:blipFill>
        <p:spPr>
          <a:xfrm>
            <a:off x="5257800" y="1280160"/>
            <a:ext cx="3337560" cy="2388441"/>
          </a:xfrm>
          <a:prstGeom prst="rect">
            <a:avLst/>
          </a:prstGeom>
          <a:effectLst>
            <a:outerShdw sx="100000" sy="100000" kx="0" ky="0" algn="bl" rotWithShape="0" blurRad="101600" dist="25400" dir="5400000">
              <a:srgbClr val="000000">
                <a:alpha val="14000"/>
              </a:srgbClr>
            </a:outerShdw>
          </a:effectLst>
        </p:spPr>
      </p:pic>
      <p:sp>
        <p:nvSpPr>
          <p:cNvPr id="28" name="Lab caption"/>
          <p:cNvSpPr txBox="1"/>
          <p:nvPr/>
        </p:nvSpPr>
        <p:spPr>
          <a:xfrm>
            <a:off x="5257800" y="3840480"/>
            <a:ext cx="3337560" cy="228600"/>
          </a:xfrm>
          <a:prstGeom prst="rect">
            <a:avLst/>
          </a:prstGeom>
          <a:noFill/>
          <a:ln/>
        </p:spPr>
        <p:txBody>
          <a:bodyPr wrap="square" lIns="0" tIns="0" rIns="0" bIns="0" rtlCol="0" anchor="t"/>
          <a:lstStyle/>
          <a:p>
            <a:pPr indent="0" marL="0">
              <a:buNone/>
            </a:pPr>
            <a:r>
              <a:rPr lang="en-US" sz="1000" dirty="0">
                <a:solidFill>
                  <a:schemeClr val="tx2"/>
                </a:solidFill>
              </a:rPr>
              <a:t>Activity Selection in the algorithm lab</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Limitations and future scope</a:t>
            </a:r>
            <a:endParaRPr lang="en-US" sz="3200" dirty="0"/>
          </a:p>
        </p:txBody>
      </p:sp>
      <p:sp>
        <p:nvSpPr>
          <p:cNvPr id="3" name="Column card 1"/>
          <p:cNvSpPr/>
          <p:nvPr/>
        </p:nvSpPr>
        <p:spPr>
          <a:xfrm>
            <a:off x="548640" y="1280160"/>
            <a:ext cx="3931920" cy="3246120"/>
          </a:xfrm>
          <a:prstGeom prst="roundRect">
            <a:avLst>
              <a:gd name="adj" fmla="val 2254"/>
            </a:avLst>
          </a:prstGeom>
          <a:solidFill>
            <a:schemeClr val="bg2"/>
          </a:solidFill>
          <a:ln/>
        </p:spPr>
      </p:sp>
      <p:sp>
        <p:nvSpPr>
          <p:cNvPr id="4" name="Column icon 1"/>
          <p:cNvSpPr/>
          <p:nvPr/>
        </p:nvSpPr>
        <p:spPr>
          <a:xfrm>
            <a:off x="777240" y="1481328"/>
            <a:ext cx="502920" cy="502920"/>
          </a:xfrm>
          <a:prstGeom prst="ellipse">
            <a:avLst/>
          </a:prstGeom>
          <a:solidFill>
            <a:srgbClr val="C8203F"/>
          </a:solidFill>
          <a:ln/>
        </p:spPr>
      </p:sp>
      <p:pic>
        <p:nvPicPr>
          <p:cNvPr id="5" name="Image 0" descr="Column icon 1">    </p:cNvPr>
          <p:cNvPicPr>
            <a:picLocks noChangeAspect="1"/>
          </p:cNvPicPr>
          <p:nvPr/>
        </p:nvPicPr>
        <p:blipFill>
          <a:blip r:embed="rId1"/>
          <a:stretch>
            <a:fillRect/>
          </a:stretch>
        </p:blipFill>
        <p:spPr>
          <a:xfrm>
            <a:off x="902970" y="1607058"/>
            <a:ext cx="251460" cy="251460"/>
          </a:xfrm>
          <a:prstGeom prst="rect">
            <a:avLst/>
          </a:prstGeom>
        </p:spPr>
      </p:pic>
      <p:sp>
        <p:nvSpPr>
          <p:cNvPr id="6" name="Column title 1"/>
          <p:cNvSpPr txBox="1"/>
          <p:nvPr/>
        </p:nvSpPr>
        <p:spPr>
          <a:xfrm>
            <a:off x="1463040" y="1572768"/>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7" name="Column list 1"/>
          <p:cNvSpPr txBox="1"/>
          <p:nvPr/>
        </p:nvSpPr>
        <p:spPr>
          <a:xfrm>
            <a:off x="822960" y="224028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Fixed sample data and estimated travel times</a:t>
            </a:r>
            <a:endParaRPr lang="en-US" sz="1600" dirty="0"/>
          </a:p>
          <a:p>
            <a:pPr marL="342900" indent="-342900">
              <a:spcAft>
                <a:spcPts val="800"/>
              </a:spcAft>
              <a:buSzPct val="100000"/>
              <a:buChar char="•"/>
            </a:pPr>
            <a:r>
              <a:rPr lang="en-US" sz="1600" dirty="0">
                <a:solidFill>
                  <a:schemeClr val="tx1"/>
                </a:solidFill>
              </a:rPr>
              <a:t>Simulated movement, no live GPS</a:t>
            </a:r>
            <a:endParaRPr lang="en-US" sz="1600" dirty="0"/>
          </a:p>
          <a:p>
            <a:pPr marL="342900" indent="-342900">
              <a:spcAft>
                <a:spcPts val="800"/>
              </a:spcAft>
              <a:buSzPct val="100000"/>
              <a:buChar char="•"/>
            </a:pPr>
            <a:r>
              <a:rPr lang="en-US" sz="1600" dirty="0">
                <a:solidFill>
                  <a:schemeClr val="tx1"/>
                </a:solidFill>
              </a:rPr>
              <a:t>Demo logins, not production security</a:t>
            </a:r>
            <a:endParaRPr lang="en-US" sz="1600" dirty="0"/>
          </a:p>
          <a:p>
            <a:pPr marL="342900" indent="-342900">
              <a:spcAft>
                <a:spcPts val="800"/>
              </a:spcAft>
              <a:buSzPct val="100000"/>
              <a:buChar char="•"/>
            </a:pPr>
            <a:r>
              <a:rPr lang="en-US" sz="1600" dirty="0">
                <a:solidFill>
                  <a:schemeClr val="tx1"/>
                </a:solidFill>
              </a:rPr>
              <a:t>One vehicle assumed in trip scheduling</a:t>
            </a:r>
            <a:endParaRPr lang="en-US" sz="1600" dirty="0"/>
          </a:p>
        </p:txBody>
      </p:sp>
      <p:sp>
        <p:nvSpPr>
          <p:cNvPr id="8" name="Column card 2"/>
          <p:cNvSpPr/>
          <p:nvPr/>
        </p:nvSpPr>
        <p:spPr>
          <a:xfrm>
            <a:off x="4663440" y="1280160"/>
            <a:ext cx="3931920" cy="3246120"/>
          </a:xfrm>
          <a:prstGeom prst="roundRect">
            <a:avLst>
              <a:gd name="adj" fmla="val 2254"/>
            </a:avLst>
          </a:prstGeom>
          <a:solidFill>
            <a:schemeClr val="bg2"/>
          </a:solidFill>
          <a:ln/>
        </p:spPr>
      </p:sp>
      <p:sp>
        <p:nvSpPr>
          <p:cNvPr id="9" name="Column icon 2"/>
          <p:cNvSpPr/>
          <p:nvPr/>
        </p:nvSpPr>
        <p:spPr>
          <a:xfrm>
            <a:off x="4892040" y="1481328"/>
            <a:ext cx="502920" cy="502920"/>
          </a:xfrm>
          <a:prstGeom prst="ellipse">
            <a:avLst/>
          </a:prstGeom>
          <a:solidFill>
            <a:srgbClr val="0A7C78"/>
          </a:solidFill>
          <a:ln/>
        </p:spPr>
      </p:sp>
      <p:pic>
        <p:nvPicPr>
          <p:cNvPr id="10" name="Image 1" descr="Column icon 2">    </p:cNvPr>
          <p:cNvPicPr>
            <a:picLocks noChangeAspect="1"/>
          </p:cNvPicPr>
          <p:nvPr/>
        </p:nvPicPr>
        <p:blipFill>
          <a:blip r:embed="rId2"/>
          <a:stretch>
            <a:fillRect/>
          </a:stretch>
        </p:blipFill>
        <p:spPr>
          <a:xfrm>
            <a:off x="5017770" y="1607058"/>
            <a:ext cx="251460" cy="251460"/>
          </a:xfrm>
          <a:prstGeom prst="rect">
            <a:avLst/>
          </a:prstGeom>
        </p:spPr>
      </p:pic>
      <p:sp>
        <p:nvSpPr>
          <p:cNvPr id="11" name="Column title 2"/>
          <p:cNvSpPr txBox="1"/>
          <p:nvPr/>
        </p:nvSpPr>
        <p:spPr>
          <a:xfrm>
            <a:off x="5577840" y="1572768"/>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Future scope</a:t>
            </a:r>
            <a:endParaRPr lang="en-US" sz="2000" dirty="0"/>
          </a:p>
        </p:txBody>
      </p:sp>
      <p:sp>
        <p:nvSpPr>
          <p:cNvPr id="12" name="Column list 2"/>
          <p:cNvSpPr txBox="1"/>
          <p:nvPr/>
        </p:nvSpPr>
        <p:spPr>
          <a:xfrm>
            <a:off x="4937760" y="224028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Real road times and traffic-aware weights</a:t>
            </a:r>
            <a:endParaRPr lang="en-US" sz="1600" dirty="0"/>
          </a:p>
          <a:p>
            <a:pPr marL="342900" indent="-342900">
              <a:spcAft>
                <a:spcPts val="800"/>
              </a:spcAft>
              <a:buSzPct val="100000"/>
              <a:buChar char="•"/>
            </a:pPr>
            <a:r>
              <a:rPr lang="en-US" sz="1600" dirty="0">
                <a:solidFill>
                  <a:schemeClr val="tx1"/>
                </a:solidFill>
              </a:rPr>
              <a:t>Live shuttle location and a database</a:t>
            </a:r>
            <a:endParaRPr lang="en-US" sz="1600" dirty="0"/>
          </a:p>
          <a:p>
            <a:pPr marL="342900" indent="-342900">
              <a:spcAft>
                <a:spcPts val="800"/>
              </a:spcAft>
              <a:buSzPct val="100000"/>
              <a:buChar char="•"/>
            </a:pPr>
            <a:r>
              <a:rPr lang="en-US" sz="1600" dirty="0">
                <a:solidFill>
                  <a:schemeClr val="tx1"/>
                </a:solidFill>
              </a:rPr>
              <a:t>Real authenticated accounts</a:t>
            </a:r>
            <a:endParaRPr lang="en-US" sz="1600" dirty="0"/>
          </a:p>
          <a:p>
            <a:pPr marL="342900" indent="-342900">
              <a:spcAft>
                <a:spcPts val="800"/>
              </a:spcAft>
              <a:buSzPct val="100000"/>
              <a:buChar char="•"/>
            </a:pPr>
            <a:r>
              <a:rPr lang="en-US" sz="1600" dirty="0">
                <a:solidFill>
                  <a:schemeClr val="tx1"/>
                </a:solidFill>
              </a:rPr>
              <a:t>Multi-shuttle trip assignment</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7863840" cy="1554480"/>
          </a:xfrm>
          <a:prstGeom prst="rect">
            <a:avLst/>
          </a:prstGeom>
          <a:noFill/>
          <a:ln/>
        </p:spPr>
        <p:txBody>
          <a:bodyPr wrap="square" lIns="0" tIns="0" rIns="0" bIns="0" rtlCol="0" anchor="t"/>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640080" y="2697480"/>
            <a:ext cx="7863840" cy="457200"/>
          </a:xfrm>
          <a:prstGeom prst="rect">
            <a:avLst/>
          </a:prstGeom>
          <a:noFill/>
          <a:ln/>
        </p:spPr>
        <p:txBody>
          <a:bodyPr wrap="square" lIns="0" tIns="0" rIns="0" bIns="0" rtlCol="0" anchor="t"/>
          <a:lstStyle/>
          <a:p>
            <a:pPr algn="l" indent="0" marL="0">
              <a:buNone/>
            </a:pPr>
            <a:r>
              <a:rPr lang="en-US" sz="1800" dirty="0">
                <a:solidFill>
                  <a:schemeClr val="bg2"/>
                </a:solidFill>
              </a:rPr>
              <a:t>Graph, greedy and dynamic programming algorithms working together on one campus problem. Questions are welcome.</a:t>
            </a:r>
            <a:endParaRPr lang="en-US" sz="1800" dirty="0"/>
          </a:p>
        </p:txBody>
      </p:sp>
      <p:sp>
        <p:nvSpPr>
          <p:cNvPr id="4" name="Closing presenter"/>
          <p:cNvSpPr txBox="1"/>
          <p:nvPr/>
        </p:nvSpPr>
        <p:spPr>
          <a:xfrm>
            <a:off x="640080" y="4023360"/>
            <a:ext cx="5486400" cy="640080"/>
          </a:xfrm>
          <a:prstGeom prst="rect">
            <a:avLst/>
          </a:prstGeom>
          <a:noFill/>
          <a:ln/>
        </p:spPr>
        <p:txBody>
          <a:bodyPr wrap="square" lIns="0" tIns="0" rIns="0" bIns="0" rtlCol="0" anchor="t"/>
          <a:lstStyle/>
          <a:p>
            <a:pPr indent="0" marL="0">
              <a:buNone/>
            </a:pPr>
            <a:r>
              <a:rPr lang="en-US" sz="1800" b="1" dirty="0">
                <a:solidFill>
                  <a:schemeClr val="bg1"/>
                </a:solidFill>
              </a:rPr>
              <a:t>Ishanth M</a:t>
            </a:r>
            <a:endParaRPr lang="en-US" sz="1400" dirty="0"/>
          </a:p>
          <a:p>
            <a:pPr indent="0" marL="0">
              <a:buNone/>
            </a:pPr>
            <a:r>
              <a:rPr lang="en-US" sz="1400" dirty="0">
                <a:solidFill>
                  <a:schemeClr val="bg2"/>
                </a:solidFill>
              </a:rPr>
              <a:t>25WU0102101  |  B.Tech CSE-AIML, Rhinos</a:t>
            </a:r>
            <a:endParaRPr lang="en-US" sz="1400" dirty="0"/>
          </a:p>
        </p:txBody>
      </p:sp>
    </p:spTree>
  </p:cSld>
  <p:clrMapOvr>
    <a:masterClrMapping/>
  </p:clrMapOvr>
</p:sld>
</file>

<file path=ppt/theme/theme1.xml><?xml version="1.0" encoding="utf-8"?>
<a:theme xmlns:a="http://schemas.openxmlformats.org/drawingml/2006/main" name="RouteLab Woxsen">
  <a:themeElements>
    <a:clrScheme name="RouteLab Woxsen">
      <a:dk1>
        <a:srgbClr val="151929"/>
      </a:dk1>
      <a:lt1>
        <a:srgbClr val="FFFFFF"/>
      </a:lt1>
      <a:dk2>
        <a:srgbClr val="4A5270"/>
      </a:dk2>
      <a:lt2>
        <a:srgbClr val="F1F2F7"/>
      </a:lt2>
      <a:accent1>
        <a:srgbClr val="C8203F"/>
      </a:accent1>
      <a:accent2>
        <a:srgbClr val="0A7C78"/>
      </a:accent2>
      <a:accent3>
        <a:srgbClr val="B7791F"/>
      </a:accent3>
      <a:accent4>
        <a:srgbClr val="5B6B9A"/>
      </a:accent4>
      <a:accent5>
        <a:srgbClr val="1B7F47"/>
      </a:accent5>
      <a:accent6>
        <a:srgbClr val="7A4FD0"/>
      </a:accent6>
      <a:hlink>
        <a:srgbClr val="0A7C78"/>
      </a:hlink>
      <a:folHlink>
        <a:srgbClr val="5B6B9A"/>
      </a:folHlink>
    </a:clrScheme>
    <a:fontScheme name="RouteLab Woxs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Shuttle Routing and Capacity Scheduling System</dc:title>
  <dc:subject>PptxGenJS Presentation</dc:subject>
  <dc:creator>Ishanth M</dc:creator>
  <cp:lastModifiedBy>Ishanth M</cp:lastModifiedBy>
  <cp:revision>1</cp:revision>
  <dcterms:created xsi:type="dcterms:W3CDTF">2026-10-15T22:14:55Z</dcterms:created>
  <dcterms:modified xsi:type="dcterms:W3CDTF">2026-10-15T22:14:55Z</dcterms:modified>
</cp:coreProperties>
</file>